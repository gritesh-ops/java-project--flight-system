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1.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e6bbc0945444c2" /><Relationship Type="http://schemas.openxmlformats.org/officeDocument/2006/relationships/extended-properties" Target="/docProps/app.xml" Id="R9f4823d053ed4536" /><Relationship Type="http://schemas.openxmlformats.org/officeDocument/2006/relationships/officeDocument" Target="/ppt/presentation.xml" Id="R46bf1227fa3a4fcd" /></Relationships>
</file>

<file path=ppt/presentation.xml><?xml version="1.0" encoding="utf-8"?>
<p:presentation xmlns:p="http://schemas.openxmlformats.org/presentationml/2006/main">
  <p:sldMasterIdLst>
    <p:sldMasterId xmlns:r="http://schemas.openxmlformats.org/officeDocument/2006/relationships" id="2147483648" r:id="R7398fb3b05544786"/>
  </p:sldMasterIdLst>
  <p:notesMasterIdLst>
    <p:notesMasterId xmlns:r="http://schemas.openxmlformats.org/officeDocument/2006/relationships" r:id="R9250bd9c18bd4c3c"/>
  </p:notesMasterIdLst>
  <p:sldIdLst>
    <p:sldId xmlns:r="http://schemas.openxmlformats.org/officeDocument/2006/relationships" id="256" r:id="Rd9ff8566106347ef"/>
    <p:sldId xmlns:r="http://schemas.openxmlformats.org/officeDocument/2006/relationships" id="257" r:id="Refb937edb66344fb"/>
    <p:sldId xmlns:r="http://schemas.openxmlformats.org/officeDocument/2006/relationships" id="258" r:id="R12520c6526d745b3"/>
    <p:sldId xmlns:r="http://schemas.openxmlformats.org/officeDocument/2006/relationships" id="259" r:id="R70723e9cb8284579"/>
    <p:sldId xmlns:r="http://schemas.openxmlformats.org/officeDocument/2006/relationships" id="260" r:id="Rb1a7b7fc63b44968"/>
    <p:sldId xmlns:r="http://schemas.openxmlformats.org/officeDocument/2006/relationships" id="261" r:id="R58b89d6fc9ee4098"/>
    <p:sldId xmlns:r="http://schemas.openxmlformats.org/officeDocument/2006/relationships" id="262" r:id="R5fc9f953b4944f1c"/>
    <p:sldId xmlns:r="http://schemas.openxmlformats.org/officeDocument/2006/relationships" id="263" r:id="Rae2fb983648e4af6"/>
    <p:sldId xmlns:r="http://schemas.openxmlformats.org/officeDocument/2006/relationships" id="264" r:id="R6a2497eee90142b6"/>
    <p:sldId xmlns:r="http://schemas.openxmlformats.org/officeDocument/2006/relationships" id="265" r:id="R5d7a781f390048a5"/>
    <p:sldId xmlns:r="http://schemas.openxmlformats.org/officeDocument/2006/relationships" id="266" r:id="Ra965c432981f463c"/>
    <p:sldId xmlns:r="http://schemas.openxmlformats.org/officeDocument/2006/relationships" id="267" r:id="R5d69b28d38f84fe2"/>
    <p:sldId xmlns:r="http://schemas.openxmlformats.org/officeDocument/2006/relationships" id="268" r:id="R5a0415fb77ac485b"/>
    <p:sldId xmlns:r="http://schemas.openxmlformats.org/officeDocument/2006/relationships" id="269" r:id="R0727dbbae5104c5b"/>
    <p:sldId xmlns:r="http://schemas.openxmlformats.org/officeDocument/2006/relationships" id="270" r:id="R30fc12e137e042b7"/>
    <p:sldId xmlns:r="http://schemas.openxmlformats.org/officeDocument/2006/relationships" id="271" r:id="R257d805fbc6b4a9e"/>
    <p:sldId xmlns:r="http://schemas.openxmlformats.org/officeDocument/2006/relationships" id="272" r:id="R64b5b7363a0943aa"/>
    <p:sldId xmlns:r="http://schemas.openxmlformats.org/officeDocument/2006/relationships" id="273" r:id="R460840d2f07e4e28"/>
    <p:sldId xmlns:r="http://schemas.openxmlformats.org/officeDocument/2006/relationships" id="274" r:id="Rd47f87e2d4334c17"/>
    <p:sldId xmlns:r="http://schemas.openxmlformats.org/officeDocument/2006/relationships" id="275" r:id="Rade4ff70b97545ee"/>
    <p:sldId xmlns:r="http://schemas.openxmlformats.org/officeDocument/2006/relationships" id="276" r:id="R16470615bfbd4422"/>
    <p:sldId xmlns:r="http://schemas.openxmlformats.org/officeDocument/2006/relationships" id="277" r:id="R4eaf6dfb49bd4a33"/>
    <p:sldId xmlns:r="http://schemas.openxmlformats.org/officeDocument/2006/relationships" id="278" r:id="Re99d39c702d144c8"/>
    <p:sldId xmlns:r="http://schemas.openxmlformats.org/officeDocument/2006/relationships" id="279" r:id="Rff7a6ce34aec4473"/>
    <p:sldId xmlns:r="http://schemas.openxmlformats.org/officeDocument/2006/relationships" id="280" r:id="Rbe6a105422bb4ddf"/>
    <p:sldId xmlns:r="http://schemas.openxmlformats.org/officeDocument/2006/relationships" id="281" r:id="R4ac3c5ed1b5f4d90"/>
    <p:sldId xmlns:r="http://schemas.openxmlformats.org/officeDocument/2006/relationships" id="282" r:id="R310b640b8fe74075"/>
    <p:sldId xmlns:r="http://schemas.openxmlformats.org/officeDocument/2006/relationships" id="283" r:id="R3605d429c00645e3"/>
    <p:sldId xmlns:r="http://schemas.openxmlformats.org/officeDocument/2006/relationships" id="284" r:id="R5376389fd0734aa0"/>
    <p:sldId xmlns:r="http://schemas.openxmlformats.org/officeDocument/2006/relationships" id="285" r:id="R0053dda60ee244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494beb86d74404" /><Relationship Type="http://schemas.openxmlformats.org/officeDocument/2006/relationships/slideMaster" Target="/ppt/slideMasters/slideMaster1.xml" Id="R7398fb3b05544786" /><Relationship Type="http://schemas.openxmlformats.org/officeDocument/2006/relationships/notesMaster" Target="/ppt/notesMasters/notesMaster1.xml" Id="R9250bd9c18bd4c3c" /><Relationship Type="http://schemas.openxmlformats.org/officeDocument/2006/relationships/presProps" Target="/ppt/presProps.xml" Id="Rde5196b904b240e2" /><Relationship Type="http://schemas.openxmlformats.org/officeDocument/2006/relationships/tableStyles" Target="/ppt/tableStyles.xml" Id="Rb3cfb44638434357" /><Relationship Type="http://schemas.openxmlformats.org/officeDocument/2006/relationships/slide" Target="/ppt/slides/slide1.xml" Id="Rd9ff8566106347ef" /><Relationship Type="http://schemas.openxmlformats.org/officeDocument/2006/relationships/slide" Target="/ppt/slides/slide2.xml" Id="Refb937edb66344fb" /><Relationship Type="http://schemas.openxmlformats.org/officeDocument/2006/relationships/slide" Target="/ppt/slides/slide3.xml" Id="R12520c6526d745b3" /><Relationship Type="http://schemas.openxmlformats.org/officeDocument/2006/relationships/slide" Target="/ppt/slides/slide4.xml" Id="R70723e9cb8284579" /><Relationship Type="http://schemas.openxmlformats.org/officeDocument/2006/relationships/slide" Target="/ppt/slides/slide5.xml" Id="Rb1a7b7fc63b44968" /><Relationship Type="http://schemas.openxmlformats.org/officeDocument/2006/relationships/slide" Target="/ppt/slides/slide6.xml" Id="R58b89d6fc9ee4098" /><Relationship Type="http://schemas.openxmlformats.org/officeDocument/2006/relationships/slide" Target="/ppt/slides/slide7.xml" Id="R5fc9f953b4944f1c" /><Relationship Type="http://schemas.openxmlformats.org/officeDocument/2006/relationships/slide" Target="/ppt/slides/slide8.xml" Id="Rae2fb983648e4af6" /><Relationship Type="http://schemas.openxmlformats.org/officeDocument/2006/relationships/slide" Target="/ppt/slides/slide9.xml" Id="R6a2497eee90142b6" /><Relationship Type="http://schemas.openxmlformats.org/officeDocument/2006/relationships/slide" Target="/ppt/slides/slide10.xml" Id="R5d7a781f390048a5" /><Relationship Type="http://schemas.openxmlformats.org/officeDocument/2006/relationships/slide" Target="/ppt/slides/slide11.xml" Id="Ra965c432981f463c" /><Relationship Type="http://schemas.openxmlformats.org/officeDocument/2006/relationships/slide" Target="/ppt/slides/slide12.xml" Id="R5d69b28d38f84fe2" /><Relationship Type="http://schemas.openxmlformats.org/officeDocument/2006/relationships/slide" Target="/ppt/slides/slide13.xml" Id="R5a0415fb77ac485b" /><Relationship Type="http://schemas.openxmlformats.org/officeDocument/2006/relationships/slide" Target="/ppt/slides/slide14.xml" Id="R0727dbbae5104c5b" /><Relationship Type="http://schemas.openxmlformats.org/officeDocument/2006/relationships/slide" Target="/ppt/slides/slide15.xml" Id="R30fc12e137e042b7" /><Relationship Type="http://schemas.openxmlformats.org/officeDocument/2006/relationships/slide" Target="/ppt/slides/slide16.xml" Id="R257d805fbc6b4a9e" /><Relationship Type="http://schemas.openxmlformats.org/officeDocument/2006/relationships/slide" Target="/ppt/slides/slide17.xml" Id="R64b5b7363a0943aa" /><Relationship Type="http://schemas.openxmlformats.org/officeDocument/2006/relationships/slide" Target="/ppt/slides/slide18.xml" Id="R460840d2f07e4e28" /><Relationship Type="http://schemas.openxmlformats.org/officeDocument/2006/relationships/slide" Target="/ppt/slides/slide19.xml" Id="Rd47f87e2d4334c17" /><Relationship Type="http://schemas.openxmlformats.org/officeDocument/2006/relationships/slide" Target="/ppt/slides/slide20.xml" Id="Rade4ff70b97545ee" /><Relationship Type="http://schemas.openxmlformats.org/officeDocument/2006/relationships/slide" Target="/ppt/slides/slide21.xml" Id="R16470615bfbd4422" /><Relationship Type="http://schemas.openxmlformats.org/officeDocument/2006/relationships/slide" Target="/ppt/slides/slide22.xml" Id="R4eaf6dfb49bd4a33" /><Relationship Type="http://schemas.openxmlformats.org/officeDocument/2006/relationships/slide" Target="/ppt/slides/slide23.xml" Id="Re99d39c702d144c8" /><Relationship Type="http://schemas.openxmlformats.org/officeDocument/2006/relationships/slide" Target="/ppt/slides/slide24.xml" Id="Rff7a6ce34aec4473" /><Relationship Type="http://schemas.openxmlformats.org/officeDocument/2006/relationships/slide" Target="/ppt/slides/slide25.xml" Id="Rbe6a105422bb4ddf" /><Relationship Type="http://schemas.openxmlformats.org/officeDocument/2006/relationships/slide" Target="/ppt/slides/slide26.xml" Id="R4ac3c5ed1b5f4d90" /><Relationship Type="http://schemas.openxmlformats.org/officeDocument/2006/relationships/slide" Target="/ppt/slides/slide27.xml" Id="R310b640b8fe74075" /><Relationship Type="http://schemas.openxmlformats.org/officeDocument/2006/relationships/slide" Target="/ppt/slides/slide28.xml" Id="R3605d429c00645e3" /><Relationship Type="http://schemas.openxmlformats.org/officeDocument/2006/relationships/slide" Target="/ppt/slides/slide29.xml" Id="R5376389fd0734aa0" /><Relationship Type="http://schemas.openxmlformats.org/officeDocument/2006/relationships/slide" Target="/ppt/slides/slide30.xml" Id="R0053dda60ee244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f33a7300a643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07e03c4ce34423" /><Relationship Type="http://schemas.openxmlformats.org/officeDocument/2006/relationships/notesMaster" Target="/ppt/notesMasters/notesMaster1.xml" Id="Rb18560d8538043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9532320d5747ff" /><Relationship Type="http://schemas.openxmlformats.org/officeDocument/2006/relationships/notesMaster" Target="/ppt/notesMasters/notesMaster1.xml" Id="R23cb74fceafc48c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3e6c37d4f24e0c" /><Relationship Type="http://schemas.openxmlformats.org/officeDocument/2006/relationships/notesMaster" Target="/ppt/notesMasters/notesMaster1.xml" Id="R688bab86bf2942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76f9f5060d4db1" /><Relationship Type="http://schemas.openxmlformats.org/officeDocument/2006/relationships/notesMaster" Target="/ppt/notesMasters/notesMaster1.xml" Id="R7232be7c26b24b6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f762007b074019" /><Relationship Type="http://schemas.openxmlformats.org/officeDocument/2006/relationships/notesMaster" Target="/ppt/notesMasters/notesMaster1.xml" Id="R419e93de341b4b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74f0c21b5140f6" /><Relationship Type="http://schemas.openxmlformats.org/officeDocument/2006/relationships/notesMaster" Target="/ppt/notesMasters/notesMaster1.xml" Id="R9a60451df9704b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67c87e05524269" /><Relationship Type="http://schemas.openxmlformats.org/officeDocument/2006/relationships/notesMaster" Target="/ppt/notesMasters/notesMaster1.xml" Id="Rd20df14d08f444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c3bfa180f14120" /><Relationship Type="http://schemas.openxmlformats.org/officeDocument/2006/relationships/notesMaster" Target="/ppt/notesMasters/notesMaster1.xml" Id="Re43d9745bc3d4d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6eb1accaa44c61" /><Relationship Type="http://schemas.openxmlformats.org/officeDocument/2006/relationships/notesMaster" Target="/ppt/notesMasters/notesMaster1.xml" Id="R315a93ce117b4b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1d34cf464cc4096" /><Relationship Type="http://schemas.openxmlformats.org/officeDocument/2006/relationships/notesMaster" Target="/ppt/notesMasters/notesMaster1.xml" Id="R6417b02c4f2348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2f44d5a2984106" /><Relationship Type="http://schemas.openxmlformats.org/officeDocument/2006/relationships/notesMaster" Target="/ppt/notesMasters/notesMaster1.xml" Id="R02860468f9a9434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85acd919254222" /><Relationship Type="http://schemas.openxmlformats.org/officeDocument/2006/relationships/notesMaster" Target="/ppt/notesMasters/notesMaster1.xml" Id="Rf24507561e6e418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ab28c65cd8740af" /><Relationship Type="http://schemas.openxmlformats.org/officeDocument/2006/relationships/notesMaster" Target="/ppt/notesMasters/notesMaster1.xml" Id="R89a7c0f77a53421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34a40c119f42a1" /><Relationship Type="http://schemas.openxmlformats.org/officeDocument/2006/relationships/notesMaster" Target="/ppt/notesMasters/notesMaster1.xml" Id="Rc67755005264424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8f39388c6aa4bfb" /><Relationship Type="http://schemas.openxmlformats.org/officeDocument/2006/relationships/notesMaster" Target="/ppt/notesMasters/notesMaster1.xml" Id="R94afad80e2c84c5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bc04ff3a6ce4d12" /><Relationship Type="http://schemas.openxmlformats.org/officeDocument/2006/relationships/notesMaster" Target="/ppt/notesMasters/notesMaster1.xml" Id="R738e00c7c96543c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8c723c789ab4751" /><Relationship Type="http://schemas.openxmlformats.org/officeDocument/2006/relationships/notesMaster" Target="/ppt/notesMasters/notesMaster1.xml" Id="R21e4fc42283c4cb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32bc701e9e84cde" /><Relationship Type="http://schemas.openxmlformats.org/officeDocument/2006/relationships/notesMaster" Target="/ppt/notesMasters/notesMaster1.xml" Id="Rf23b36c8ab0d49c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62dd5b1ee594862" /><Relationship Type="http://schemas.openxmlformats.org/officeDocument/2006/relationships/notesMaster" Target="/ppt/notesMasters/notesMaster1.xml" Id="R5baf05bce93847d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c44b0e074fa4188" /><Relationship Type="http://schemas.openxmlformats.org/officeDocument/2006/relationships/notesMaster" Target="/ppt/notesMasters/notesMaster1.xml" Id="R221bb004847543e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fd2d4fb7b404389" /><Relationship Type="http://schemas.openxmlformats.org/officeDocument/2006/relationships/notesMaster" Target="/ppt/notesMasters/notesMaster1.xml" Id="R943e157f628d4f7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8c08180b9674b99" /><Relationship Type="http://schemas.openxmlformats.org/officeDocument/2006/relationships/notesMaster" Target="/ppt/notesMasters/notesMaster1.xml" Id="Rd3d75bc624ef422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eb0722596284f40" /><Relationship Type="http://schemas.openxmlformats.org/officeDocument/2006/relationships/notesMaster" Target="/ppt/notesMasters/notesMaster1.xml" Id="Rd279679b05494be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737e227f689416c" /><Relationship Type="http://schemas.openxmlformats.org/officeDocument/2006/relationships/notesMaster" Target="/ppt/notesMasters/notesMaster1.xml" Id="R4787a428a0a840e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821ec2ce525481e" /><Relationship Type="http://schemas.openxmlformats.org/officeDocument/2006/relationships/notesMaster" Target="/ppt/notesMasters/notesMaster1.xml" Id="Rceba70c6f8dc43b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9c7b4982baf4a9b" /><Relationship Type="http://schemas.openxmlformats.org/officeDocument/2006/relationships/notesMaster" Target="/ppt/notesMasters/notesMaster1.xml" Id="R93c30f9251e443c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adf68f61bdf46fe" /><Relationship Type="http://schemas.openxmlformats.org/officeDocument/2006/relationships/notesMaster" Target="/ppt/notesMasters/notesMaster1.xml" Id="R23f5ff3d9ab7459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e9ccf13ea7c4689" /><Relationship Type="http://schemas.openxmlformats.org/officeDocument/2006/relationships/notesMaster" Target="/ppt/notesMasters/notesMaster1.xml" Id="Rb9e86a39f9d141a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e5cf5fd0566493f" /><Relationship Type="http://schemas.openxmlformats.org/officeDocument/2006/relationships/notesMaster" Target="/ppt/notesMasters/notesMaster1.xml" Id="Rb305d55456de48c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c1cadb236b64ea5" /><Relationship Type="http://schemas.openxmlformats.org/officeDocument/2006/relationships/notesMaster" Target="/ppt/notesMasters/notesMaster1.xml" Id="R6b1fdd6d3d7546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explains the original Java Airport Flight Board and Scheduler created for the user. It follows the topic-wise code organization, rather than syllabus modules. The airport artwork is AI-generated conceptual imagery and does not depict a documented real airport event. The monitor rows are illustrative. All program data and business rules appear as separate editable slide content. Source: C:\Users\RITESH\Documents\Codex\2026-10-06\new-chat\Airport_Scheduler_Topic_Wise\docs\CODE_BY_TOPIC.md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program is a console simulation. It has no live airline connection, booking service, runway allocation or full airport timetable optimizer. An operator manually chooses times and gates, and the scheduler validates the chosen assignments. All times are local 24-hour times for one day. AI-generated image depicts a fictional operations setting only. Source: C:\Users\RITESH\Documents\Codex\2026-10-06\new-chat\Airport_Scheduler_Topic_Wise/docs/PROJECT_EXPLANATION.md. The user-supplied GitHub reference could not be inspected during the original build, and no verified adaptation of that repository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reproduces the six supplied sample records from C:\Users\RITESH\Documents\Codex\2026-10-06\new-chat\Airport_Scheduler_Topic_Wise/data/flights.txt. The current sample is already time-sorted. AI606 is departed and 6E505 is cancelled. Four records are active. 6E303 has a 15-minute delay. Explain that cancelled/departed records remain visible but do not reserve a gate. These are illustrative project records, not verified live airline schedules.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1: Variables Constants and Primitive Data Types</a:t>
            </a:r>
          </a:p>
          <a:p xmlns:a="http://schemas.openxmlformats.org/drawingml/2006/main">
            <a:r>
              <a:t/>
            </a:r>
          </a:p>
          <a:p xmlns:a="http://schemas.openxmlformats.org/drawingml/2006/main">
            <a:r>
              <a:t>Why used: Store flight capacity, gate separation, array size, counts and numeric results with explicit types.</a:t>
            </a:r>
          </a:p>
          <a:p xmlns:a="http://schemas.openxmlformats.org/drawingml/2006/main">
            <a:r>
              <a:t/>
            </a:r>
          </a:p>
          <a:p xmlns:a="http://schemas.openxmlformats.org/drawingml/2006/main">
            <a:r>
              <a:t>Viva explanation: int stores minutes/counts; boolean stores decisions; double keeps fractional averages. static final names shared constants.</a:t>
            </a:r>
          </a:p>
          <a:p xmlns:a="http://schemas.openxmlformats.org/drawingml/2006/main">
            <a:r>
              <a:t/>
            </a:r>
          </a:p>
          <a:p xmlns:a="http://schemas.openxmlformats.org/drawingml/2006/main">
            <a:r>
              <a:t>Source: FlightScheduler fields and AirportApp summary.</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2: Classes Objects and Fields</a:t>
            </a:r>
          </a:p>
          <a:p xmlns:a="http://schemas.openxmlformats.org/drawingml/2006/main">
            <a:r>
              <a:t/>
            </a:r>
          </a:p>
          <a:p xmlns:a="http://schemas.openxmlformats.org/drawingml/2006/main">
            <a:r>
              <a:t>Why used: Represent each flight as an object with named properties instead of unrelated variables.</a:t>
            </a:r>
          </a:p>
          <a:p xmlns:a="http://schemas.openxmlformats.org/drawingml/2006/main">
            <a:r>
              <a:t/>
            </a:r>
          </a:p>
          <a:p xmlns:a="http://schemas.openxmlformats.org/drawingml/2006/main">
            <a:r>
              <a:t>Viva explanation: Flight is the blueprint; new Flight creates one instance. Separate objects retain separate flight details.</a:t>
            </a:r>
          </a:p>
          <a:p xmlns:a="http://schemas.openxmlformats.org/drawingml/2006/main">
            <a:r>
              <a:t/>
            </a:r>
          </a:p>
          <a:p xmlns:a="http://schemas.openxmlformats.org/drawingml/2006/main">
            <a:r>
              <a:t>Source: Flight fields and AirportApp.addFlight.</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3: Parameterized Constructor and this</a:t>
            </a:r>
          </a:p>
          <a:p xmlns:a="http://schemas.openxmlformats.org/drawingml/2006/main">
            <a:r>
              <a:t/>
            </a:r>
          </a:p>
          <a:p xmlns:a="http://schemas.openxmlformats.org/drawingml/2006/main">
            <a:r>
              <a:t>Why used: Require valid identifying details, route, times, gate and status when a flight is created.</a:t>
            </a:r>
          </a:p>
          <a:p xmlns:a="http://schemas.openxmlformats.org/drawingml/2006/main">
            <a:r>
              <a:t/>
            </a:r>
          </a:p>
          <a:p xmlns:a="http://schemas.openxmlformats.org/drawingml/2006/main">
            <a:r>
              <a:t>Viva explanation: The constructor has no return type. this.number is the field of the current object; number is its parameter.</a:t>
            </a:r>
          </a:p>
          <a:p xmlns:a="http://schemas.openxmlformats.org/drawingml/2006/main">
            <a:r>
              <a:t/>
            </a:r>
          </a:p>
          <a:p xmlns:a="http://schemas.openxmlformats.org/drawingml/2006/main">
            <a:r>
              <a:t>Source: Flight constructor.</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This condensed constructor excerpt omits assignments and validation for origin/destination and the flight-number pattern. The full constructor includes them.</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4: Encapsulation Accessors and Controlled Mutation</a:t>
            </a:r>
          </a:p>
          <a:p xmlns:a="http://schemas.openxmlformats.org/drawingml/2006/main">
            <a:r>
              <a:t/>
            </a:r>
          </a:p>
          <a:p xmlns:a="http://schemas.openxmlformats.org/drawingml/2006/main">
            <a:r>
              <a:t>Why used: Keep fields private and update expected time, gate and status together after validation.</a:t>
            </a:r>
          </a:p>
          <a:p xmlns:a="http://schemas.openxmlformats.org/drawingml/2006/main">
            <a:r>
              <a:t/>
            </a:r>
          </a:p>
          <a:p xmlns:a="http://schemas.openxmlformats.org/drawingml/2006/main">
            <a:r>
              <a:t>Viva explanation: Getters expose values. Normal edits go through FlightScheduler, which checks gate conflicts before calling the package-level mutator.</a:t>
            </a:r>
          </a:p>
          <a:p xmlns:a="http://schemas.openxmlformats.org/drawingml/2006/main">
            <a:r>
              <a:t/>
            </a:r>
          </a:p>
          <a:p xmlns:a="http://schemas.openxmlformats.org/drawingml/2006/main">
            <a:r>
              <a:t>Source: Flight accessors and updateBoardDetails.</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The mutator has package access, not public access. All normal application edits go through FlightScheduler. This is information hiding between trusted application classes, not a security boundary against arbitrary same-package code.</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5: Scanner and Console Input</a:t>
            </a:r>
          </a:p>
          <a:p xmlns:a="http://schemas.openxmlformats.org/drawingml/2006/main">
            <a:r>
              <a:t/>
            </a:r>
          </a:p>
          <a:p xmlns:a="http://schemas.openxmlformats.org/drawingml/2006/main">
            <a:r>
              <a:t>Why used: Read operator-entered flight details and menu values from the console.</a:t>
            </a:r>
          </a:p>
          <a:p xmlns:a="http://schemas.openxmlformats.org/drawingml/2006/main">
            <a:r>
              <a:t/>
            </a:r>
          </a:p>
          <a:p xmlns:a="http://schemas.openxmlformats.org/drawingml/2006/main">
            <a:r>
              <a:t>Viva explanation: Read a complete line, then parse it. This avoids the leftover-newline issue from mixing nextInt with nextLine.</a:t>
            </a:r>
          </a:p>
          <a:p xmlns:a="http://schemas.openxmlformats.org/drawingml/2006/main">
            <a:r>
              <a:t/>
            </a:r>
          </a:p>
          <a:p xmlns:a="http://schemas.openxmlformats.org/drawingml/2006/main">
            <a:r>
              <a:t>Source: ConsoleInput field constructor and readText.</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6: while Loops and Numeric Input Validation</a:t>
            </a:r>
          </a:p>
          <a:p xmlns:a="http://schemas.openxmlformats.org/drawingml/2006/main">
            <a:r>
              <a:t/>
            </a:r>
          </a:p>
          <a:p xmlns:a="http://schemas.openxmlformats.org/drawingml/2006/main">
            <a:r>
              <a:t>Why used: Repeat input until it is a valid integer or time, rather than terminating on a typing mistake.</a:t>
            </a:r>
          </a:p>
          <a:p xmlns:a="http://schemas.openxmlformats.org/drawingml/2006/main">
            <a:r>
              <a:t/>
            </a:r>
          </a:p>
          <a:p xmlns:a="http://schemas.openxmlformats.org/drawingml/2006/main">
            <a:r>
              <a:t>Viva explanation: while(true) has controlled exits: return for valid input and an end-of-input exception. It is not an endless application loop.</a:t>
            </a:r>
          </a:p>
          <a:p xmlns:a="http://schemas.openxmlformats.org/drawingml/2006/main">
            <a:r>
              <a:t/>
            </a:r>
          </a:p>
          <a:p xmlns:a="http://schemas.openxmlformats.org/drawingml/2006/main">
            <a:r>
              <a:t>Source: ConsoleInput.readInt and readTime.</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7: Strings Arithmetic Operators and Time Conversion</a:t>
            </a:r>
          </a:p>
          <a:p xmlns:a="http://schemas.openxmlformats.org/drawingml/2006/main">
            <a:r>
              <a:t/>
            </a:r>
          </a:p>
          <a:p xmlns:a="http://schemas.openxmlformats.org/drawingml/2006/main">
            <a:r>
              <a:t>Why used: Turn HH:mm into minutes for comparisons and turn minutes back into display text.</a:t>
            </a:r>
          </a:p>
          <a:p xmlns:a="http://schemas.openxmlformats.org/drawingml/2006/main">
            <a:r>
              <a:t/>
            </a:r>
          </a:p>
          <a:p xmlns:a="http://schemas.openxmlformats.org/drawingml/2006/main">
            <a:r>
              <a:t>Viva explanation: 09:30 becomes 570. Division gets hours and remainder gets minutes. substring extracts the two text components.</a:t>
            </a:r>
          </a:p>
          <a:p xmlns:a="http://schemas.openxmlformats.org/drawingml/2006/main">
            <a:r>
              <a:t/>
            </a:r>
          </a:p>
          <a:p xmlns:a="http://schemas.openxmlformats.org/drawingml/2006/main">
            <a:r>
              <a:t>Source: Flight.parseTime and formatTime.</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The full parseTime first checks the exact two-digit HH:mm pattern. No negative time components can enter through that pattern. The program accepts 00:00 to 23:59 and does not convert time zones.</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8: String Length Indexing Trimming and Validation</a:t>
            </a:r>
          </a:p>
          <a:p xmlns:a="http://schemas.openxmlformats.org/drawingml/2006/main">
            <a:r>
              <a:t/>
            </a:r>
          </a:p>
          <a:p xmlns:a="http://schemas.openxmlformats.org/drawingml/2006/main">
            <a:r>
              <a:t>Why used: Reject empty/unsafe fields and normalize gates before storing or comparing them.</a:t>
            </a:r>
          </a:p>
          <a:p xmlns:a="http://schemas.openxmlformats.org/drawingml/2006/main">
            <a:r>
              <a:t/>
            </a:r>
          </a:p>
          <a:p xmlns:a="http://schemas.openxmlformats.org/drawingml/2006/main">
            <a:r>
              <a:t>Viva explanation: trim removes surrounding spaces; length checks limits; contains finds forbidden delimiters; charAt examines characters; uppercase normalizes keys.</a:t>
            </a:r>
          </a:p>
          <a:p xmlns:a="http://schemas.openxmlformats.org/drawingml/2006/main">
            <a:r>
              <a:t/>
            </a:r>
          </a:p>
          <a:p xmlns:a="http://schemas.openxmlformats.org/drawingml/2006/main">
            <a:r>
              <a:t>Source: Flight.cleanText and normalizeGate.</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cleanText checks null/empty values, line breaks and carriage returns as well. normalizeGate uses the uppercase string and validates one letter followed by one or two digits. String operations return new values because Strings are immutable.</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9: One Dimensional Arrays and Adding a Flight</a:t>
            </a:r>
          </a:p>
          <a:p xmlns:a="http://schemas.openxmlformats.org/drawingml/2006/main">
            <a:r>
              <a:t/>
            </a:r>
          </a:p>
          <a:p xmlns:a="http://schemas.openxmlformats.org/drawingml/2006/main">
            <a:r>
              <a:t>Why used: Keep a bounded board of 200 flight references and insert a validated record at the next free position.</a:t>
            </a:r>
          </a:p>
          <a:p xmlns:a="http://schemas.openxmlformats.org/drawingml/2006/main">
            <a:r>
              <a:t/>
            </a:r>
          </a:p>
          <a:p xmlns:a="http://schemas.openxmlformats.org/drawingml/2006/main">
            <a:r>
              <a:t>Viva explanation: Valid occupied positions are 0 through count minus 1. count++ advances the next insertion position.</a:t>
            </a:r>
          </a:p>
          <a:p xmlns:a="http://schemas.openxmlformats.org/drawingml/2006/main">
            <a:r>
              <a:t/>
            </a:r>
          </a:p>
          <a:p xmlns:a="http://schemas.openxmlformats.org/drawingml/2006/main">
            <a:r>
              <a:t>Source: FlightScheduler fields and addFlight.</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10: for Loop Linear Search equals and null</a:t>
            </a:r>
          </a:p>
          <a:p xmlns:a="http://schemas.openxmlformats.org/drawingml/2006/main">
            <a:r>
              <a:t/>
            </a:r>
          </a:p>
          <a:p xmlns:a="http://schemas.openxmlformats.org/drawingml/2006/main">
            <a:r>
              <a:t>Why used: Find an existing flight by number and detect duplicate numbers with one simple scan.</a:t>
            </a:r>
          </a:p>
          <a:p xmlns:a="http://schemas.openxmlformats.org/drawingml/2006/main">
            <a:r>
              <a:t/>
            </a:r>
          </a:p>
          <a:p xmlns:a="http://schemas.openxmlformats.org/drawingml/2006/main">
            <a:r>
              <a:t>Viva explanation: equals compares String contents; null means no record was found. Linear search takes O(n) time.</a:t>
            </a:r>
          </a:p>
          <a:p xmlns:a="http://schemas.openxmlformats.org/drawingml/2006/main">
            <a:r>
              <a:t/>
            </a:r>
          </a:p>
          <a:p xmlns:a="http://schemas.openxmlformats.org/drawingml/2006/main">
            <a:r>
              <a:t>Source: FlightScheduler.findFlight.</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11: Methods Parameters Return Values and throw</a:t>
            </a:r>
          </a:p>
          <a:p xmlns:a="http://schemas.openxmlformats.org/drawingml/2006/main">
            <a:r>
              <a:t/>
            </a:r>
          </a:p>
          <a:p xmlns:a="http://schemas.openxmlformats.org/drawingml/2006/main">
            <a:r>
              <a:t>Why used: Reuse lookup and validation rules, returning a result or reporting a precise failure.</a:t>
            </a:r>
          </a:p>
          <a:p xmlns:a="http://schemas.openxmlformats.org/drawingml/2006/main">
            <a:r>
              <a:t/>
            </a:r>
          </a:p>
          <a:p xmlns:a="http://schemas.openxmlformats.org/drawingml/2006/main">
            <a:r>
              <a:t>Viva explanation: Java passes values; an object argument passes a copy of its reference value. throw raises an exception at the point of failure.</a:t>
            </a:r>
          </a:p>
          <a:p xmlns:a="http://schemas.openxmlformats.org/drawingml/2006/main">
            <a:r>
              <a:t/>
            </a:r>
          </a:p>
          <a:p xmlns:a="http://schemas.openxmlformats.org/drawingml/2006/main">
            <a:r>
              <a:t>Source: FlightScheduler.requireFlight and Flight.validateMinutes.</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12: Relational Logical Operators and continue</a:t>
            </a:r>
          </a:p>
          <a:p xmlns:a="http://schemas.openxmlformats.org/drawingml/2006/main">
            <a:r>
              <a:t/>
            </a:r>
          </a:p>
          <a:p xmlns:a="http://schemas.openxmlformats.org/drawingml/2006/main">
            <a:r>
              <a:t>Why used: Reject active flights at the same gate when their expected departure times are less than 30 minutes apart.</a:t>
            </a:r>
          </a:p>
          <a:p xmlns:a="http://schemas.openxmlformats.org/drawingml/2006/main">
            <a:r>
              <a:t/>
            </a:r>
          </a:p>
          <a:p xmlns:a="http://schemas.openxmlformats.org/drawingml/2006/main">
            <a:r>
              <a:t>Viva explanation: continue skips inactive/self records. AND combines same-gate and time conditions. Exactly 30 minutes is accepted.</a:t>
            </a:r>
          </a:p>
          <a:p xmlns:a="http://schemas.openxmlformats.org/drawingml/2006/main">
            <a:r>
              <a:t/>
            </a:r>
          </a:p>
          <a:p xmlns:a="http://schemas.openxmlformats.org/drawingml/2006/main">
            <a:r>
              <a:t>Source: FlightScheduler.checkGate.</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All comparisons use gate A1. 6E101 originally has expected time 09:00; AI202 has expected time 09:45. A proposed 30-minute total delay makes the expected time 09:30 and creates a 15-minute gap, which the program rejects without mutation. A 10-minute total delay produces a 35-minute gap and succeeds. The code uses the named GATE_GAP_MINUTES constant in production.</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13: if else and Delay Calculation</a:t>
            </a:r>
          </a:p>
          <a:p xmlns:a="http://schemas.openxmlformats.org/drawingml/2006/main">
            <a:r>
              <a:t/>
            </a:r>
          </a:p>
          <a:p xmlns:a="http://schemas.openxmlformats.org/drawingml/2006/main">
            <a:r>
              <a:t>Why used: Choose SCHEDULED for zero delay and DELAYED for a positive delay, checking the proposed update first.</a:t>
            </a:r>
          </a:p>
          <a:p xmlns:a="http://schemas.openxmlformats.org/drawingml/2006/main">
            <a:r>
              <a:t/>
            </a:r>
          </a:p>
          <a:p xmlns:a="http://schemas.openxmlformats.org/drawingml/2006/main">
            <a:r>
              <a:t>Viva explanation: Delay means total minutes after the original scheduled time. Rejected edits do not alter the existing flight.</a:t>
            </a:r>
          </a:p>
          <a:p xmlns:a="http://schemas.openxmlformats.org/drawingml/2006/main">
            <a:r>
              <a:t/>
            </a:r>
          </a:p>
          <a:p xmlns:a="http://schemas.openxmlformats.org/drawingml/2006/main">
            <a:r>
              <a:t>Source: FlightScheduler.setDelay.</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The full method rejects departed/cancelled records, negative delay and a delay that crosses midnight. Setting a delay resets status to SCHEDULED or DELAYED, so the operator must mark BOARDING again if needed.</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14: Gate Changes through Reusable Methods</a:t>
            </a:r>
          </a:p>
          <a:p xmlns:a="http://schemas.openxmlformats.org/drawingml/2006/main">
            <a:r>
              <a:t/>
            </a:r>
          </a:p>
          <a:p xmlns:a="http://schemas.openxmlformats.org/drawingml/2006/main">
            <a:r>
              <a:t>Why used: Reuse gate normalization and clash detection when the operator assigns another gate.</a:t>
            </a:r>
          </a:p>
          <a:p xmlns:a="http://schemas.openxmlformats.org/drawingml/2006/main">
            <a:r>
              <a:t/>
            </a:r>
          </a:p>
          <a:p xmlns:a="http://schemas.openxmlformats.org/drawingml/2006/main">
            <a:r>
              <a:t>Viva explanation: Changing a field directly would bypass a cross-record rule. The scheduler validates the proposed gate before mutation.</a:t>
            </a:r>
          </a:p>
          <a:p xmlns:a="http://schemas.openxmlformats.org/drawingml/2006/main">
            <a:r>
              <a:t/>
            </a:r>
          </a:p>
          <a:p xmlns:a="http://schemas.openxmlformats.org/drawingml/2006/main">
            <a:r>
              <a:t>Source: FlightScheduler.changeGate.</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15: Status Comparison and Conditional Validation</a:t>
            </a:r>
          </a:p>
          <a:p xmlns:a="http://schemas.openxmlformats.org/drawingml/2006/main">
            <a:r>
              <a:t/>
            </a:r>
          </a:p>
          <a:p xmlns:a="http://schemas.openxmlformats.org/drawingml/2006/main">
            <a:r>
              <a:t>Why used: Accept only known status values and recheck gate separation when a record becomes active.</a:t>
            </a:r>
          </a:p>
          <a:p xmlns:a="http://schemas.openxmlformats.org/drawingml/2006/main">
            <a:r>
              <a:t/>
            </a:r>
          </a:p>
          <a:p xmlns:a="http://schemas.openxmlformats.org/drawingml/2006/main">
            <a:r>
              <a:t>Viva explanation: SCHEDULED, DELAYED and BOARDING are active; DEPARTED and CANCELLED release a gate. Use equals for String values.</a:t>
            </a:r>
          </a:p>
          <a:p xmlns:a="http://schemas.openxmlformats.org/drawingml/2006/main">
            <a:r>
              <a:t/>
            </a:r>
          </a:p>
          <a:p xmlns:a="http://schemas.openxmlformats.org/drawingml/2006/main">
            <a:r>
              <a:t>Source: Flight status helpers and FlightScheduler.changeStatus.</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The full changeStatus also rejects unknown status strings and calls updateBoardDetails after the gate check. SCHEDULED requires zero delay. DELAYED requires a positive delay. An operator may restore a cancelled/departed record as a correction, subject to all checks.</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16: Interfaces Comparator and Method Overriding</a:t>
            </a:r>
          </a:p>
          <a:p xmlns:a="http://schemas.openxmlformats.org/drawingml/2006/main">
            <a:r>
              <a:t/>
            </a:r>
          </a:p>
          <a:p xmlns:a="http://schemas.openxmlformats.org/drawingml/2006/main">
            <a:r>
              <a:t>Why used: Supply a flight ordering policy to the library without adding a custom Flight inheritance hierarchy.</a:t>
            </a:r>
          </a:p>
          <a:p xmlns:a="http://schemas.openxmlformats.org/drawingml/2006/main">
            <a:r>
              <a:t/>
            </a:r>
          </a:p>
          <a:p xmlns:a="http://schemas.openxmlformats.org/drawingml/2006/main">
            <a:r>
              <a:t>Viva explanation: The comparator is-a Comparator of Flight. compare returns negative, positive or zero according to ordering; flight number breaks equal-time ties.</a:t>
            </a:r>
          </a:p>
          <a:p xmlns:a="http://schemas.openxmlformats.org/drawingml/2006/main">
            <a:r>
              <a:t/>
            </a:r>
          </a:p>
          <a:p xmlns:a="http://schemas.openxmlformats.org/drawingml/2006/main">
            <a:r>
              <a:t>Source: FlightTimeComparator.</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There is no custom Flight class inheritance hierarchy. Every Java class still inherits from Object. String.compareTo is used only as a tie breaker. Flight does not implement Comparable; this design separates a particular board order from the record class.</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17: Library Sorting with Arrays sort</a:t>
            </a:r>
          </a:p>
          <a:p xmlns:a="http://schemas.openxmlformats.org/drawingml/2006/main">
            <a:r>
              <a:t/>
            </a:r>
          </a:p>
          <a:p xmlns:a="http://schemas.openxmlformats.org/drawingml/2006/main">
            <a:r>
              <a:t>Why used: Display flights in expected-time order while preserving the backing array element order.</a:t>
            </a:r>
          </a:p>
          <a:p xmlns:a="http://schemas.openxmlformats.org/drawingml/2006/main">
            <a:r>
              <a:t/>
            </a:r>
          </a:p>
          <a:p xmlns:a="http://schemas.openxmlformats.org/drawingml/2006/main">
            <a:r>
              <a:t>Viva explanation: Arrays.copyOf copies occupied array slots; it is not a deep copy of Flight objects. Arrays.sort uses the Comparator.</a:t>
            </a:r>
          </a:p>
          <a:p xmlns:a="http://schemas.openxmlformats.org/drawingml/2006/main">
            <a:r>
              <a:t/>
            </a:r>
          </a:p>
          <a:p xmlns:a="http://schemas.openxmlformats.org/drawingml/2006/main">
            <a:r>
              <a:t>Source: FlightScheduler.getSortedFlights.</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The three displayed records illustrate the sorting and tie-breaker test case; they are not part of the six-record airport demonstration file. getSortedFlights returns a sorted occupied-position array, preserving the backing-array element order. It does not make deep copies.</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18: Enhanced for Each Loop and Formatted Printing</a:t>
            </a:r>
          </a:p>
          <a:p xmlns:a="http://schemas.openxmlformats.org/drawingml/2006/main">
            <a:r>
              <a:t/>
            </a:r>
          </a:p>
          <a:p xmlns:a="http://schemas.openxmlformats.org/drawingml/2006/main">
            <a:r>
              <a:t>Why used: Display every flight with aligned columns without managing a manual array index.</a:t>
            </a:r>
          </a:p>
          <a:p xmlns:a="http://schemas.openxmlformats.org/drawingml/2006/main">
            <a:r>
              <a:t/>
            </a:r>
          </a:p>
          <a:p xmlns:a="http://schemas.openxmlformats.org/drawingml/2006/main">
            <a:r>
              <a:t>Viva explanation: printf formats columns. The board shortens long names; search prints the full values.</a:t>
            </a:r>
          </a:p>
          <a:p xmlns:a="http://schemas.openxmlformats.org/drawingml/2006/main">
            <a:r>
              <a:t/>
            </a:r>
          </a:p>
          <a:p xmlns:a="http://schemas.openxmlformats.org/drawingml/2006/main">
            <a:r>
              <a:t>Source: AirportApp.printBoard.</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This is a condensed four-column version of the production display to explain printf. The complete printBoard has eight columns, including scheduled time, airline, origin and destination. It shortens long names on the board; the search view preserves full details.</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19: Counting Summation Nested if Average and Typecasting</a:t>
            </a:r>
          </a:p>
          <a:p xmlns:a="http://schemas.openxmlformats.org/drawingml/2006/main">
            <a:r>
              <a:t/>
            </a:r>
          </a:p>
          <a:p xmlns:a="http://schemas.openxmlformats.org/drawingml/2006/main">
            <a:r>
              <a:t>Why used: Show board totals and an average active-flight delay without losing fractional results.</a:t>
            </a:r>
          </a:p>
          <a:p xmlns:a="http://schemas.openxmlformats.org/drawingml/2006/main">
            <a:r>
              <a:t/>
            </a:r>
          </a:p>
          <a:p xmlns:a="http://schemas.openxmlformats.org/drawingml/2006/main">
            <a:r>
              <a:t>Viva explanation: The denominator is all active flights, including zero-delay flights. (double) prevents integer division; active &gt; 0 prevents division by zero.</a:t>
            </a:r>
          </a:p>
          <a:p xmlns:a="http://schemas.openxmlformats.org/drawingml/2006/main">
            <a:r>
              <a:t/>
            </a:r>
          </a:p>
          <a:p xmlns:a="http://schemas.openxmlformats.org/drawingml/2006/main">
            <a:r>
              <a:t>Source: AirportApp.printSummary.</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The sample has four active flights, one departed and one cancelled. Only 6E303 has active delay, with 15 minutes. The denominator is all four active flights, so 15.0 / 4 = 3.75. Delayed-active count is 1. Do not confuse the average across all active flights with the average across only delayed flights. The chart is native and uses supplied sample data.</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20: toString String Concatenation and Search Output</a:t>
            </a:r>
          </a:p>
          <a:p xmlns:a="http://schemas.openxmlformats.org/drawingml/2006/main">
            <a:r>
              <a:t/>
            </a:r>
          </a:p>
          <a:p xmlns:a="http://schemas.openxmlformats.org/drawingml/2006/main">
            <a:r>
              <a:t>Why used: Provide a readable complete description when a flight is found.</a:t>
            </a:r>
          </a:p>
          <a:p xmlns:a="http://schemas.openxmlformats.org/drawingml/2006/main">
            <a:r>
              <a:t/>
            </a:r>
          </a:p>
          <a:p xmlns:a="http://schemas.openxmlformats.org/drawingml/2006/main">
            <a:r>
              <a:t>Viva explanation: toString overrides Object representation. Printing the Flight reference calls its toString method.</a:t>
            </a:r>
          </a:p>
          <a:p xmlns:a="http://schemas.openxmlformats.org/drawingml/2006/main">
            <a:r>
              <a:t/>
            </a:r>
          </a:p>
          <a:p xmlns:a="http://schemas.openxmlformats.org/drawingml/2006/main">
            <a:r>
              <a:t>Source: Flight.toString and AirportApp.findFlight.</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21: File Reading Path Files split and throws</a:t>
            </a:r>
          </a:p>
          <a:p xmlns:a="http://schemas.openxmlformats.org/drawingml/2006/main">
            <a:r>
              <a:t/>
            </a:r>
          </a:p>
          <a:p xmlns:a="http://schemas.openxmlformats.org/drawingml/2006/main">
            <a:r>
              <a:t>Why used: Restore saved records line by line and detect malformed fields, duplicates and gate clashes.</a:t>
            </a:r>
          </a:p>
          <a:p xmlns:a="http://schemas.openxmlformats.org/drawingml/2006/main">
            <a:r>
              <a:t/>
            </a:r>
          </a:p>
          <a:p xmlns:a="http://schemas.openxmlformats.org/drawingml/2006/main">
            <a:r>
              <a:t>Viva explanation: IOException is checked. split tokenizes fields; the escaped pipe is a delimiter pattern, not a bitwise operator. A bad record stops startup without changing the file.</a:t>
            </a:r>
          </a:p>
          <a:p xmlns:a="http://schemas.openxmlformats.org/drawingml/2006/main">
            <a:r>
              <a:t/>
            </a:r>
          </a:p>
          <a:p xmlns:a="http://schemas.openxmlformats.org/drawingml/2006/main">
            <a:r>
              <a:t>Source: FlightFileStore.load.</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The Java code for the delimiter is line.split("\\|", -1). Explain that the pipe must be escaped because split accepts a regular expression. -1 preserves empty trailing fields. The complete loader skips blank lines, requires exactly eight fields, constructs a validated Flight and calls loaded.addFlight. Missing files start an empty board. Invalid records stop startup with a line number, keeping the source file unchanged.</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22: File Writing join Resources and finally</a:t>
            </a:r>
          </a:p>
          <a:p xmlns:a="http://schemas.openxmlformats.org/drawingml/2006/main">
            <a:r>
              <a:t/>
            </a:r>
          </a:p>
          <a:p xmlns:a="http://schemas.openxmlformats.org/drawingml/2006/main">
            <a:r>
              <a:t>Why used: Write a complete snapshot, close the writer, then replace the destination; clean up a leftover temporary file.</a:t>
            </a:r>
          </a:p>
          <a:p xmlns:a="http://schemas.openxmlformats.org/drawingml/2006/main">
            <a:r>
              <a:t/>
            </a:r>
          </a:p>
          <a:p xmlns:a="http://schemas.openxmlformats.org/drawingml/2006/main">
            <a:r>
              <a:t>Viva explanation: String.join builds one record. try-with-resources closes the writer; finally attempts cleanup. Atomic replacement is requested with a fallback when unsupported.</a:t>
            </a:r>
          </a:p>
          <a:p xmlns:a="http://schemas.openxmlformats.org/drawingml/2006/main">
            <a:r>
              <a:t/>
            </a:r>
          </a:p>
          <a:p xmlns:a="http://schemas.openxmlformats.org/drawingml/2006/main">
            <a:r>
              <a:t>Source: FlightFileStore.save.</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The complete saver writes every flight as eight fields using String.join, requests ATOMIC_MOVE and REPLACE_EXISTING, then falls back to a regular replacement when atomic movement is unsupported. This excerpt shows the fallback replacement to focus on try-with-resources and finally. Resource closing is automatic. The approach is helpful protection, not a complete crash-recovery or concurrent-write transaction system.</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23: try catch and Checked Exception Handling</a:t>
            </a:r>
          </a:p>
          <a:p xmlns:a="http://schemas.openxmlformats.org/drawingml/2006/main">
            <a:r>
              <a:t/>
            </a:r>
          </a:p>
          <a:p xmlns:a="http://schemas.openxmlformats.org/drawingml/2006/main">
            <a:r>
              <a:t>Why used: Report storage failure and let the operator retry without discarding in-memory changes.</a:t>
            </a:r>
          </a:p>
          <a:p xmlns:a="http://schemas.openxmlformats.org/drawingml/2006/main">
            <a:r>
              <a:t/>
            </a:r>
          </a:p>
          <a:p xmlns:a="http://schemas.openxmlformats.org/drawingml/2006/main">
            <a:r>
              <a:t>Viva explanation: IOException must be handled or declared. The helper returns true or false so normal exit can depend on successful saving.</a:t>
            </a:r>
          </a:p>
          <a:p xmlns:a="http://schemas.openxmlformats.org/drawingml/2006/main">
            <a:r>
              <a:t/>
            </a:r>
          </a:p>
          <a:p xmlns:a="http://schemas.openxmlformats.org/drawingml/2006/main">
            <a:r>
              <a:t>Source: AirportApp.save.</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throw raises an exception. throws declares a checked exception that may leave a method. FlightFileStore.load/save declare throws IOException. Errors such as OutOfMemoryError are not treated as ordinary invalid input. On normal exit, a failed save returns the operator to the menu; end-of-input has only a final save attempt.</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Topic 24: Program Structure main switch break and Menu Loop</a:t>
            </a:r>
          </a:p>
          <a:p xmlns:a="http://schemas.openxmlformats.org/drawingml/2006/main">
            <a:r>
              <a:t/>
            </a:r>
          </a:p>
          <a:p xmlns:a="http://schemas.openxmlformats.org/drawingml/2006/main">
            <a:r>
              <a:t>Why used: Connect all operations, repeat the menu and stop after a successful save-and-exit operation.</a:t>
            </a:r>
          </a:p>
          <a:p xmlns:a="http://schemas.openxmlformats.org/drawingml/2006/main">
            <a:r>
              <a:t/>
            </a:r>
          </a:p>
          <a:p xmlns:a="http://schemas.openxmlformats.org/drawingml/2006/main">
            <a:r>
              <a:t>Viva explanation: main is the entry point. switch selects one menu operation; break prevents case fall-through. The running flag controls repetition.</a:t>
            </a:r>
          </a:p>
          <a:p xmlns:a="http://schemas.openxmlformats.org/drawingml/2006/main">
            <a:r>
              <a:t/>
            </a:r>
          </a:p>
          <a:p xmlns:a="http://schemas.openxmlformats.org/drawingml/2006/main">
            <a:r>
              <a:t>Source: AirportApp.main and printMenu.</a:t>
            </a:r>
          </a:p>
          <a:p xmlns:a="http://schemas.openxmlformats.org/drawingml/2006/main">
            <a:r>
              <a:t>Full source code and explanation: C:\Users\RITESH\Documents\Codex\2026-10-06\new-chat\Airport_Scheduler_Topic_Wise\docs\CODE_BY_TOPIC.md</a:t>
            </a:r>
          </a:p>
          <a:p xmlns:a="http://schemas.openxmlformats.org/drawingml/2006/main">
            <a:r>
              <a:t/>
            </a:r>
          </a:p>
          <a:p xmlns:a="http://schemas.openxmlformats.org/drawingml/2006/main">
            <a:r>
              <a:t>This excerpt shows three menu options only. The complete main includes add, search, delay, gate, status and summary options, plus load handling and catches for invalid operations/end-of-input. main is public static void main(String[] args). The default is a defensive branch; validated input normally makes the unknown-option default unreachable.</a:t>
            </a:r>
          </a:p>
          <a:p xmlns:a="http://schemas.openxmlformats.org/drawingml/2006/main">
            <a:r>
              <a:t/>
            </a:r>
          </a:p>
          <a:p xmlns:a="http://schemas.openxmlformats.org/drawingml/2006/main">
            <a:r>
              <a:t>Code on this slide is a focused excerpt or condensed teaching example. The complete classes in src include the remaining validation, imports and error messages. The project is an offline, single-day 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design choices rather than claiming that omitted features are bad. The standard Comparator interface and Object inheritance still exist. We did not add a custom class hierarchy. Other omitted alternatives include ternary, do-while, multi-catch, instanceof, explicit empty Flight construction, deliberate endless loops and whole-file loading. Source: C:\Users\RITESH\Documents\Codex\2026-10-06\new-chat\Airport_Scheduler_Topic_Wise\docs\CODE_BY_TOPIC.md</a:t>
            </a:r>
          </a:p>
          <a:p xmlns:a="http://schemas.openxmlformats.org/drawingml/2006/main">
            <a:r>
              <a:t/>
            </a:r>
          </a:p>
          <a:p xmlns:a="http://schemas.openxmlformats.org/drawingml/2006/main">
            <a:r>
              <a:t>Complete reasons from the source guide:</a:t>
            </a:r>
          </a:p>
          <a:p xmlns:a="http://schemas.openxmlformats.org/drawingml/2006/main">
            <a:r>
              <a:t/>
            </a:r>
          </a:p>
          <a:p xmlns:a="http://schemas.openxmlformats.org/drawingml/2006/main">
            <a:r>
              <a:t/>
            </a:r>
          </a:p>
          <a:p xmlns:a="http://schemas.openxmlformats.org/drawingml/2006/main">
            <a:r>
              <a:t>| Topic | Why left out |</a:t>
            </a:r>
          </a:p>
          <a:p xmlns:a="http://schemas.openxmlformats.org/drawingml/2006/main">
            <a:r>
              <a:t>|---|---|</a:t>
            </a:r>
          </a:p>
          <a:p xmlns:a="http://schemas.openxmlformats.org/drawingml/2006/main">
            <a:r>
              <a:t>| Recursion and its base and recursive cases | A flat board needs iterative scans, not recursive dependencies or tree traversal |</a:t>
            </a:r>
          </a:p>
          <a:p xmlns:a="http://schemas.openxmlformats.org/drawingml/2006/main">
            <a:r>
              <a:t>| Two dimensional arrays and matrix arithmetic | Flight objects contain named mixed-type fields; the task is not a numeric matrix problem |</a:t>
            </a:r>
          </a:p>
          <a:p xmlns:a="http://schemas.openxmlformats.org/drawingml/2006/main">
            <a:r>
              <a:t>| Bitwise operators | No binary flags, bit packing or hardware registers are required |</a:t>
            </a:r>
          </a:p>
          <a:p xmlns:a="http://schemas.openxmlformats.org/drawingml/2006/main">
            <a:r>
              <a:t>| Ternary operator | The explicit if-else used for delay status is clear enough |</a:t>
            </a:r>
          </a:p>
          <a:p xmlns:a="http://schemas.openxmlformats.org/drawingml/2006/main">
            <a:r>
              <a:t>| do-while | The existing while forms handle menu/input repetition; another loop form adds no requirement |</a:t>
            </a:r>
          </a:p>
          <a:p xmlns:a="http://schemas.openxmlformats.org/drawingml/2006/main">
            <a:r>
              <a:t>| Nested loops | Each edit needs one gate scan; no directly nested pairwise scan is written |</a:t>
            </a:r>
          </a:p>
          <a:p xmlns:a="http://schemas.openxmlformats.org/drawingml/2006/main">
            <a:r>
              <a:t>| Endless loops without an exit | The operator must be able to save and exit; validation loops return or throw on end of input |</a:t>
            </a:r>
          </a:p>
          <a:p xmlns:a="http://schemas.openxmlformats.org/drawingml/2006/main">
            <a:r>
              <a:t>| Student-defined method overloading | One signature per operation meets this version's needs |</a:t>
            </a:r>
          </a:p>
          <a:p xmlns:a="http://schemas.openxmlformats.org/drawingml/2006/main">
            <a:r>
              <a:t>| Explicit empty Flight constructor | A Flight must have valid identity, route, time, gate and status at creation |</a:t>
            </a:r>
          </a:p>
          <a:p xmlns:a="http://schemas.openxmlformats.org/drawingml/2006/main">
            <a:r>
              <a:t>| Constructor overloading | One full constructor works for both file-loaded and operator-entered records |</a:t>
            </a:r>
          </a:p>
          <a:p xmlns:a="http://schemas.openxmlformats.org/drawingml/2006/main">
            <a:r>
              <a:t>| Custom single, multilevel, hierarchical or hybrid inheritance | No distinct flight subtype behavior is required. Object inheritance and standard interface implementation still exist |</a:t>
            </a:r>
          </a:p>
          <a:p xmlns:a="http://schemas.openxmlformats.org/drawingml/2006/main">
            <a:r>
              <a:t>| Multiple class inheritance | Java does not support extending multiple classes; multiple interface roles are unnecessary here |</a:t>
            </a:r>
          </a:p>
          <a:p xmlns:a="http://schemas.openxmlformats.org/drawingml/2006/main">
            <a:r>
              <a:t>| A new project-specific interface | The standard Comparator interface already provides the ordering contract |</a:t>
            </a:r>
          </a:p>
          <a:p xmlns:a="http://schemas.openxmlformats.org/drawingml/2006/main">
            <a:r>
              <a:t>| instanceof | Only Flight records are stored, so subtype tests are unnecessary |</a:t>
            </a:r>
          </a:p>
          <a:p xmlns:a="http://schemas.openxmlformats.org/drawingml/2006/main">
            <a:r>
              <a:t>| Multi-catch | The handlers need one relevant exception family or a specific I/O exception |</a:t>
            </a:r>
          </a:p>
          <a:p xmlns:a="http://schemas.openxmlformats.org/drawingml/2006/main">
            <a:r>
              <a:t>| Catching Error | Ordinary invalid input is an exception; this project does not try to recover from severe runtime failures |</a:t>
            </a:r>
          </a:p>
          <a:p xmlns:a="http://schemas.openxmlformats.org/drawingml/2006/main">
            <a:r>
              <a:t>| String value comparison using double equals | equals compares content. Double equals is used appropriately for primitive values and null checks |</a:t>
            </a:r>
          </a:p>
          <a:p xmlns:a="http://schemas.openxmlformats.org/drawingml/2006/main">
            <a:r>
              <a:t>| StringBuilder | Messages are short fixed constructions; there is no large repeated text-building loop |</a:t>
            </a:r>
          </a:p>
          <a:p xmlns:a="http://schemas.openxmlformats.org/drawingml/2006/main">
            <a:r>
              <a:t>| StringBuffer | There is no shared mutable text used by multiple threads |</a:t>
            </a:r>
          </a:p>
          <a:p xmlns:a="http://schemas.openxmlformats.org/drawingml/2006/main">
            <a:r>
              <a:t>| Collections.sort | Records are stored in an array rather than a List |</a:t>
            </a:r>
          </a:p>
          <a:p xmlns:a="http://schemas.openxmlformats.org/drawingml/2006/main">
            <a:r>
              <a:t>| Arrays.binarySearch | The board is sorted by expected time but searched by flight number; a compatible search ordering is absent and n is at most 200 |</a:t>
            </a:r>
          </a:p>
          <a:p xmlns:a="http://schemas.openxmlformats.org/drawingml/2006/main">
            <a:r>
              <a:t>| Flight implements Comparable | Comparator keeps the selected board order separate from the Flight class |</a:t>
            </a:r>
          </a:p>
          <a:p xmlns:a="http://schemas.openxmlformats.org/drawingml/2006/main">
            <a:r>
              <a:t>| Whole-file loading | Buffered line-by-line processing identifies each malformed record's line |</a:t>
            </a:r>
          </a:p>
          <a:p xmlns:a="http://schemas.openxmlformats.org/drawingml/2006/main">
            <a:r>
              <a:t>| Appending update records | A snapshot should have one current row per ID; append would need an event-log resolution design |</a:t>
            </a:r>
          </a:p>
          <a:p xmlns:a="http://schemas.openxmlformats.org/drawingml/2006/main">
            <a:r>
              <a:t>| byte short long and float variables | int fits single-day minutes and small counts; double suits the average |</a:t>
            </a:r>
          </a:p>
          <a:p xmlns:a="http://schemas.openxmlformats.org/drawingml/2006/main">
            <a:r>
              <a:t>| Lowercase conversion as an additional key operation | Uppercase normalization already gives consistent keys |</a:t>
            </a:r>
          </a:p>
          <a:p xmlns:a="http://schemas.openxmlformats.org/drawingml/2006/main">
            <a:r>
              <a:t/>
            </a:r>
          </a:p>
          <a:p xmlns:a="http://schemas.openxmlformats.org/drawingml/2006/main">
            <a:r>
              <a:t>Java environment setup, algorithms, flowcharts, identifiers, literals, precedence and associativity support the implementation. They do not need artificial extra source files. The runnable classes show the Java structure, and PROJECT_EXPLANATION.md gives the algorithms and flowcharts. Ordinary operator precedence applies to formulas such as hour * 60 + minute; parentheses and simple expressions keep the intended evaluation clear.</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sequence from C:\Users\RITESH\Documents\Codex\2026-10-06\new-chat\Airport_Scheduler_Topic_Wise/docs/DEMO_STEPS.md. Before the demo, copy data/flights.txt to data/demo.txt and run java -jar Airport_Flight_Board_Scheduler.jar data/demo.txt. The 30-minute delay attempt fails and leaves 6E101 at 09:00. The accepted 10-minute delay adds 10 to the original 09:00 schedule. Move that record to B1, then mark it BOARDING. Add SG707 with airline SpiceJet, route Hyderabad to Goa, schedule 12:00, gate C1. Total active delay is now 25 minutes across five active records, giving 5.00 minutes. Save and restart with the same demo filename. The original six-record sample should remain available for repeat demonstrations.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suggested introduction: My project is an Airport Flight Board and Scheduler written in Java. It maintains a single day's departure records, displays them by expected time, and prevents active flights from using the same gate within a 30-minute gap. I selected Scanner input, conditionals, loops, methods, a one-dimensional array, encapsulation, a Comparator, exceptions, Strings and buffered file operations because they meet those requirements.</a:t>
            </a:r>
          </a:p>
          <a:p xmlns:a="http://schemas.openxmlformats.org/drawingml/2006/main">
            <a:r>
              <a:t/>
            </a:r>
          </a:p>
          <a:p xmlns:a="http://schemas.openxmlformats.org/drawingml/2006/main">
            <a:r>
              <a:t>Important limits: The rule is a teaching assumption. The model does not cover real arrival-to-departure gate occupancy intervals or aircraft compatibility. Cross-midnight delays are rejected. Edits remain in memory until option 8 or normal save-and-exit. Forced termination can lose unsaved edits. The text file has no multi-user locking. Atomic file replacement has a fallback and is not a full transaction/recovery system. Source: C:\Users\RITESH\Documents\Codex\2026-10-06\new-chat\Airport_Scheduler_Topic_Wise\docs\CODE_BY_TOPIC.md and C:\Users\RITESH\Documents\Codex\2026-10-06\new-chat\Airport_Scheduler_Topic_Wise/docs/PROJECT_EXPLANATION.md.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f604fb3c9a42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ce1f6f7b2640f7" /><Relationship Type="http://schemas.openxmlformats.org/officeDocument/2006/relationships/slideLayout" Target="/ppt/slideLayouts/slideLayout1.xml" Id="R497d21ed9e4645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7d21ed9e4645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e30bc12e3b4bee" /><Relationship Type="http://schemas.openxmlformats.org/officeDocument/2006/relationships/image" Target="/ppt/media/image.png" Id="R9462f2fd162941e8" /><Relationship Type="http://schemas.openxmlformats.org/officeDocument/2006/relationships/notesSlide" Target="/ppt/notesSlides/notesSlide1.xml" Id="R7f3688099e1b40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d7ea0656874f27" /><Relationship Type="http://schemas.openxmlformats.org/officeDocument/2006/relationships/image" Target="/ppt/media/image2.png" Id="R317e5a4ec6ab4081" /><Relationship Type="http://schemas.openxmlformats.org/officeDocument/2006/relationships/notesSlide" Target="/ppt/notesSlides/notesSlide2.xml" Id="Rc1b03171f30a44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a33e360d2a84ade" /><Relationship Type="http://schemas.openxmlformats.org/officeDocument/2006/relationships/notesSlide" Target="/ppt/notesSlides/notesSlide3.xml" Id="R6efed72e7a2443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8ca25417a64118" /><Relationship Type="http://schemas.openxmlformats.org/officeDocument/2006/relationships/notesSlide" Target="/ppt/notesSlides/notesSlide4.xml" Id="R5fa9eab6e7c94b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d88ef605cb44d26" /><Relationship Type="http://schemas.openxmlformats.org/officeDocument/2006/relationships/notesSlide" Target="/ppt/notesSlides/notesSlide5.xml" Id="R9decd7181ea84f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a86357b4b0343d1" /><Relationship Type="http://schemas.openxmlformats.org/officeDocument/2006/relationships/notesSlide" Target="/ppt/notesSlides/notesSlide6.xml" Id="R816fb8e05f3b44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d55a99550c9447c" /><Relationship Type="http://schemas.openxmlformats.org/officeDocument/2006/relationships/notesSlide" Target="/ppt/notesSlides/notesSlide7.xml" Id="R2f4baef5f4f448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9243b82d94042b3" /><Relationship Type="http://schemas.openxmlformats.org/officeDocument/2006/relationships/notesSlide" Target="/ppt/notesSlides/notesSlide8.xml" Id="Rd1e342efe00e4b7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26b2504219f44de" /><Relationship Type="http://schemas.openxmlformats.org/officeDocument/2006/relationships/notesSlide" Target="/ppt/notesSlides/notesSlide9.xml" Id="R67d7779e4e9f42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09017b06d27468b" /><Relationship Type="http://schemas.openxmlformats.org/officeDocument/2006/relationships/notesSlide" Target="/ppt/notesSlides/notesSlide10.xml" Id="Rd9c81b5e749845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3dee530d5134e53" /><Relationship Type="http://schemas.openxmlformats.org/officeDocument/2006/relationships/notesSlide" Target="/ppt/notesSlides/notesSlide11.xml" Id="R1ffeec440e12416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94b877b8fab4f11" /><Relationship Type="http://schemas.openxmlformats.org/officeDocument/2006/relationships/notesSlide" Target="/ppt/notesSlides/notesSlide12.xml" Id="R4685d93f71f44e1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3c3c4132c744efb" /><Relationship Type="http://schemas.openxmlformats.org/officeDocument/2006/relationships/notesSlide" Target="/ppt/notesSlides/notesSlide13.xml" Id="Rb3b8d762d3ff48a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10e89c8b3274370" /><Relationship Type="http://schemas.openxmlformats.org/officeDocument/2006/relationships/notesSlide" Target="/ppt/notesSlides/notesSlide14.xml" Id="Rb98bc9728b044a4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b912027b85a4ac7" /><Relationship Type="http://schemas.openxmlformats.org/officeDocument/2006/relationships/notesSlide" Target="/ppt/notesSlides/notesSlide15.xml" Id="R9e778cbdd5cd4fe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7ec572d62ef461b" /><Relationship Type="http://schemas.openxmlformats.org/officeDocument/2006/relationships/notesSlide" Target="/ppt/notesSlides/notesSlide16.xml" Id="R657a726fb7f94b3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548d7a138204c2d" /><Relationship Type="http://schemas.openxmlformats.org/officeDocument/2006/relationships/notesSlide" Target="/ppt/notesSlides/notesSlide17.xml" Id="R06c94b8e79f9481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f3314c35b8640cd" /><Relationship Type="http://schemas.openxmlformats.org/officeDocument/2006/relationships/notesSlide" Target="/ppt/notesSlides/notesSlide18.xml" Id="R6ac6d217badf40b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0ef1a9e1c3f4bb3" /><Relationship Type="http://schemas.openxmlformats.org/officeDocument/2006/relationships/notesSlide" Target="/ppt/notesSlides/notesSlide19.xml" Id="Re2e60b0e8626495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e6a00e4d8e14e95" /><Relationship Type="http://schemas.openxmlformats.org/officeDocument/2006/relationships/notesSlide" Target="/ppt/notesSlides/notesSlide20.xml" Id="R974dd666614348c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daac5214f774b10" /><Relationship Type="http://schemas.openxmlformats.org/officeDocument/2006/relationships/notesSlide" Target="/ppt/notesSlides/notesSlide21.xml" Id="R9a8c5a53238142a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4c0ad2144fd473d" /><Relationship Type="http://schemas.openxmlformats.org/officeDocument/2006/relationships/chart" Target="/ppt/slides/charts/chart1.xml" Id="R7a0ad51ca1c044c2" /><Relationship Type="http://schemas.openxmlformats.org/officeDocument/2006/relationships/notesSlide" Target="/ppt/notesSlides/notesSlide22.xml" Id="R89a64413466845c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7773505244743f0" /><Relationship Type="http://schemas.openxmlformats.org/officeDocument/2006/relationships/notesSlide" Target="/ppt/notesSlides/notesSlide23.xml" Id="Rf4988b59c66c49a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46c5880441b4a8d" /><Relationship Type="http://schemas.openxmlformats.org/officeDocument/2006/relationships/notesSlide" Target="/ppt/notesSlides/notesSlide24.xml" Id="R976087c30f4448c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52eec0e177a41ab" /><Relationship Type="http://schemas.openxmlformats.org/officeDocument/2006/relationships/notesSlide" Target="/ppt/notesSlides/notesSlide25.xml" Id="R49c931f235044f3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15934e5ff784d98" /><Relationship Type="http://schemas.openxmlformats.org/officeDocument/2006/relationships/notesSlide" Target="/ppt/notesSlides/notesSlide26.xml" Id="R665221c0c9dc4b1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b38dddd37cb4dfa" /><Relationship Type="http://schemas.openxmlformats.org/officeDocument/2006/relationships/notesSlide" Target="/ppt/notesSlides/notesSlide27.xml" Id="Rb352cde6d8604eb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cd2327c7edc4414" /><Relationship Type="http://schemas.openxmlformats.org/officeDocument/2006/relationships/notesSlide" Target="/ppt/notesSlides/notesSlide28.xml" Id="R6ceb8bd936604cc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03237ac00304e27" /><Relationship Type="http://schemas.openxmlformats.org/officeDocument/2006/relationships/notesSlide" Target="/ppt/notesSlides/notesSlide29.xml" Id="Rf529d1ba560b406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26a5383e13e409f" /><Relationship Type="http://schemas.openxmlformats.org/officeDocument/2006/relationships/notesSlide" Target="/ppt/notesSlides/notesSlide30.xml" Id="R5a0d8e137dab4386" /></Relationships>
</file>

<file path=ppt/slides/charts/chart1.xml><?xml version="1.0" encoding="utf-8"?>
<c:chartSpace xmlns:c="http://schemas.openxmlformats.org/drawingml/2006/chart">
  <c:lang val="en-US"/>
  <c:chart>
    <c:plotArea>
      <c:barChart>
        <c:barDir val="col"/>
        <c:grouping val="clustered"/>
        <c:varyColors val="0"/>
        <c:ser>
          <c:idx val="0"/>
          <c:order val="0"/>
          <c:tx>
            <c:v>Flights</c:v>
          </c:tx>
          <c:spPr>
            <a:solidFill xmlns:a="http://schemas.openxmlformats.org/drawingml/2006/main">
              <a:srgbClr val="007D85"/>
            </a:solidFill>
          </c:spPr>
          <c:cat>
            <c:strLit>
              <c:ptCount val="3"/>
              <c:pt idx="0">
                <c:v>Active</c:v>
              </c:pt>
              <c:pt idx="1">
                <c:v>Departed</c:v>
              </c:pt>
              <c:pt idx="2">
                <c:v>Cancelled</c:v>
              </c:pt>
            </c:strLit>
          </c:cat>
          <c:val>
            <c:numLit>
              <c:formatCode>0</c:formatCode>
              <c:ptCount val="3"/>
              <c:pt idx="0">
                <c:v>4</c:v>
              </c:pt>
              <c:pt idx="1">
                <c:v>1</c:v>
              </c:pt>
              <c:pt idx="2">
                <c:v>1</c:v>
              </c:pt>
            </c:numLit>
          </c:val>
        </c:ser>
        <c:dLbls>
          <c:txPr>
            <a:bodyPr xmlns:a="http://schemas.openxmlformats.org/drawingml/2006/main" anchorCtr="1"/>
            <a:lstStyle xmlns:a="http://schemas.openxmlformats.org/drawingml/2006/main"/>
            <a:p xmlns:a="http://schemas.openxmlformats.org/drawingml/2006/main">
              <a:pPr>
                <a:defRPr sz="1875" b="1">
                  <a:solidFill>
                    <a:srgbClr val="132A3C"/>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EE7"/>
            </a:solidFill>
          </a:ln>
        </c:spPr>
        <c:txPr>
          <a:bodyPr xmlns:a="http://schemas.openxmlformats.org/drawingml/2006/main" anchorCtr="1"/>
          <a:lstStyle xmlns:a="http://schemas.openxmlformats.org/drawingml/2006/main"/>
          <a:p xmlns:a="http://schemas.openxmlformats.org/drawingml/2006/main">
            <a:pPr>
              <a:defRPr sz="1650">
                <a:solidFill>
                  <a:srgbClr val="132A3C"/>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9525">
              <a:solidFill>
                <a:srgbClr val="D4DE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878"/>
                </a:solidFill>
                <a:latin typeface="Arial"/>
                <a:ea typeface="Arial"/>
                <a:cs typeface="Arial"/>
              </a:defRPr>
            </a:pPr>
          </a:p>
        </c:txPr>
        <c:crossAx val="48650112"/>
        <c:crossBetween val="between"/>
        <c:majorUnit val="1"/>
      </c:valAx>
      <c:spPr>
        <a:solidFill xmlns:a="http://schemas.openxmlformats.org/drawingml/2006/main">
          <a:srgbClr val="F6F8FC"/>
        </a:solidFill>
      </c:spPr>
    </c:plotArea>
    <c:plotVisOnly val="1"/>
  </c:chart>
  <c:spPr>
    <a:solidFill xmlns:a="http://schemas.openxmlformats.org/drawingml/2006/main">
      <a:srgbClr val="F6F8FC"/>
    </a:solidFill>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9462f2fd162941e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7895D31A-5867-4B98-BFE6-8D072EEC75ED}"/>
              </a:ext>
            </a:extLst>
          </p:cNvPr>
          <p:cNvSpPr>
            <a:spLocks xmlns:a="http://schemas.openxmlformats.org/drawingml/2006/main" noGrp="1"/>
          </p:cNvSpPr>
          <p:nvPr/>
        </p:nvSpPr>
        <p:spPr>
          <a:xfrm xmlns:a="http://schemas.openxmlformats.org/drawingml/2006/main">
            <a:off x="552450" y="1476375"/>
            <a:ext cx="5381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4350" b="1">
                <a:solidFill>
                  <a:srgbClr val="FFFFFF"/>
                </a:solidFill>
                <a:latin typeface="Arial"/>
                <a:ea typeface="Arial"/>
                <a:cs typeface="Arial"/>
              </a:defRPr>
            </a:pPr>
            <a:r>
              <a:rPr sz="4350" b="1">
                <a:solidFill>
                  <a:srgbClr val="FFFFFF"/>
                </a:solidFill>
                <a:latin typeface="Arial"/>
                <a:ea typeface="Arial"/>
                <a:cs typeface="Arial"/>
              </a:rPr>
              <a:t>Airport Flight Board</a:t>
            </a:r>
          </a:p>
          <a:p xmlns:a="http://schemas.openxmlformats.org/drawingml/2006/main">
            <a:pPr algn="l">
              <a:lnSpc>
                <a:spcPct val="105000"/>
              </a:lnSpc>
              <a:buNone/>
              <a:defRPr sz="4350" b="1">
                <a:solidFill>
                  <a:srgbClr val="FFFFFF"/>
                </a:solidFill>
                <a:latin typeface="Arial"/>
                <a:ea typeface="Arial"/>
                <a:cs typeface="Arial"/>
              </a:defRPr>
            </a:pPr>
            <a:r>
              <a:rPr sz="4350" b="1">
                <a:solidFill>
                  <a:srgbClr val="FFFFFF"/>
                </a:solidFill>
                <a:latin typeface="Arial"/>
                <a:ea typeface="Arial"/>
                <a:cs typeface="Arial"/>
              </a:rPr>
              <a:t>and Scheduler</a:t>
            </a:r>
          </a:p>
        </p:txBody>
      </p:sp>
      <p:sp>
        <p:nvSpPr>
          <p:cNvPr id="3" name="text-1">
            <a:extLst xmlns:a="http://schemas.openxmlformats.org/drawingml/2006/main">
              <a:ext uri="{FF2B5EF4-FFF2-40B4-BE49-F238E27FC236}">
                <a16:creationId xmlns:a16="http://schemas.microsoft.com/office/drawing/2014/main" id="{13CD3886-CCF5-4DCB-9353-9F9BA4EE1D9B}"/>
              </a:ext>
            </a:extLst>
          </p:cNvPr>
          <p:cNvSpPr>
            <a:spLocks xmlns:a="http://schemas.openxmlformats.org/drawingml/2006/main" noGrp="1"/>
          </p:cNvSpPr>
          <p:nvPr/>
        </p:nvSpPr>
        <p:spPr>
          <a:xfrm xmlns:a="http://schemas.openxmlformats.org/drawingml/2006/main">
            <a:off x="581025" y="3743325"/>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B5E9EA"/>
                </a:solidFill>
                <a:latin typeface="Arial"/>
                <a:ea typeface="Arial"/>
                <a:cs typeface="Arial"/>
              </a:defRPr>
            </a:pPr>
            <a:r>
              <a:rPr sz="2175" b="0">
                <a:solidFill>
                  <a:srgbClr val="B5E9EA"/>
                </a:solidFill>
                <a:latin typeface="Arial"/>
                <a:ea typeface="Arial"/>
                <a:cs typeface="Arial"/>
              </a:rPr>
              <a:t>Java project explained by topic</a:t>
            </a:r>
          </a:p>
        </p:txBody>
      </p:sp>
      <p:sp>
        <p:nvSpPr>
          <p:cNvPr id="4" name="text-2">
            <a:extLst xmlns:a="http://schemas.openxmlformats.org/drawingml/2006/main">
              <a:ext uri="{FF2B5EF4-FFF2-40B4-BE49-F238E27FC236}">
                <a16:creationId xmlns:a16="http://schemas.microsoft.com/office/drawing/2014/main" id="{C3C41F28-25AF-461A-8362-F54C80F283BF}"/>
              </a:ext>
            </a:extLst>
          </p:cNvPr>
          <p:cNvSpPr>
            <a:spLocks xmlns:a="http://schemas.openxmlformats.org/drawingml/2006/main" noGrp="1"/>
          </p:cNvSpPr>
          <p:nvPr/>
        </p:nvSpPr>
        <p:spPr>
          <a:xfrm xmlns:a="http://schemas.openxmlformats.org/drawingml/2006/main">
            <a:off x="581025" y="4724400"/>
            <a:ext cx="46386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E6EFF6"/>
                </a:solidFill>
                <a:latin typeface="Arial"/>
                <a:ea typeface="Arial"/>
                <a:cs typeface="Arial"/>
              </a:defRPr>
            </a:pPr>
            <a:r>
              <a:rPr sz="1800" b="0">
                <a:solidFill>
                  <a:srgbClr val="E6EFF6"/>
                </a:solidFill>
                <a:latin typeface="Arial"/>
                <a:ea typeface="Arial"/>
                <a:cs typeface="Arial"/>
              </a:rPr>
              <a:t>Code examples and viva explanations</a:t>
            </a:r>
          </a:p>
        </p:txBody>
      </p:sp>
    </p:spTree>
    <p:extLst>
      <p:ext uri="{BB962C8B-B14F-4D97-AF65-F5344CB8AC3E}">
        <p14:creationId xmlns:p14="http://schemas.microsoft.com/office/powerpoint/2010/main" val="720423467"/>
      </p:ext>
    </p:extLst>
  </p:cSld>
</p:sld>
</file>

<file path=ppt/slides/slide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54A29C8E-F90B-4E07-8915-7A645314B6E5}"/>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Project purpose and scope</a:t>
            </a:r>
          </a:p>
        </p:txBody>
      </p:sp>
      <p:sp>
        <p:nvSpPr>
          <p:cNvPr id="2" name="page-number">
            <a:extLst xmlns:a="http://schemas.openxmlformats.org/drawingml/2006/main">
              <a:ext uri="{FF2B5EF4-FFF2-40B4-BE49-F238E27FC236}">
                <a16:creationId xmlns:a16="http://schemas.microsoft.com/office/drawing/2014/main" id="{568D7E91-1D20-4A82-BCCF-B52D5BD021F8}"/>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02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17e5a4ec6ab4081"/>
          <a:stretch xmlns:a="http://schemas.openxmlformats.org/drawingml/2006/main"/>
        </p:blipFill>
        <p:spPr>
          <a:xfrm xmlns:a="http://schemas.openxmlformats.org/drawingml/2006/main">
            <a:off x="5705475" y="1444228"/>
            <a:ext cx="5953125" cy="4464844"/>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4682F6BC-A11A-4732-B69D-C74586893CE6}"/>
              </a:ext>
            </a:extLst>
          </p:cNvPr>
          <p:cNvSpPr>
            <a:spLocks xmlns:a="http://schemas.openxmlformats.org/drawingml/2006/main" noGrp="1"/>
          </p:cNvSpPr>
          <p:nvPr/>
        </p:nvSpPr>
        <p:spPr>
          <a:xfrm xmlns:a="http://schemas.openxmlformats.org/drawingml/2006/main">
            <a:off x="609600" y="1571625"/>
            <a:ext cx="457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132A3C"/>
                </a:solidFill>
                <a:latin typeface="Arial"/>
                <a:ea typeface="Arial"/>
                <a:cs typeface="Arial"/>
              </a:defRPr>
            </a:pPr>
            <a:r>
              <a:rPr sz="2175" b="0">
                <a:solidFill>
                  <a:srgbClr val="132A3C"/>
                </a:solidFill>
                <a:latin typeface="Arial"/>
                <a:ea typeface="Arial"/>
                <a:cs typeface="Arial"/>
              </a:rPr>
              <a:t>A departure-board operator needs to maintain flight records and check gate availability.</a:t>
            </a:r>
          </a:p>
        </p:txBody>
      </p:sp>
      <p:sp>
        <p:nvSpPr>
          <p:cNvPr id="5" name="text-3">
            <a:extLst xmlns:a="http://schemas.openxmlformats.org/drawingml/2006/main">
              <a:ext uri="{FF2B5EF4-FFF2-40B4-BE49-F238E27FC236}">
                <a16:creationId xmlns:a16="http://schemas.microsoft.com/office/drawing/2014/main" id="{3DAB0A9F-AAAC-4CDC-98DD-D695D41A396F}"/>
              </a:ext>
            </a:extLst>
          </p:cNvPr>
          <p:cNvSpPr>
            <a:spLocks xmlns:a="http://schemas.openxmlformats.org/drawingml/2006/main" noGrp="1"/>
          </p:cNvSpPr>
          <p:nvPr/>
        </p:nvSpPr>
        <p:spPr>
          <a:xfrm xmlns:a="http://schemas.openxmlformats.org/drawingml/2006/main">
            <a:off x="609600" y="2981325"/>
            <a:ext cx="4572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132A3C"/>
                </a:solidFill>
                <a:latin typeface="Arial"/>
                <a:ea typeface="Arial"/>
                <a:cs typeface="Arial"/>
              </a:defRPr>
            </a:pPr>
            <a:r>
              <a:rPr sz="2175" b="0">
                <a:solidFill>
                  <a:srgbClr val="132A3C"/>
                </a:solidFill>
                <a:latin typeface="Arial"/>
                <a:ea typeface="Arial"/>
                <a:cs typeface="Arial"/>
              </a:rPr>
              <a:t>The program adds, searches and updates flights. It sorts the board and saves records.</a:t>
            </a:r>
          </a:p>
        </p:txBody>
      </p:sp>
      <p:sp>
        <p:nvSpPr>
          <p:cNvPr id="6" name="text-4">
            <a:extLst xmlns:a="http://schemas.openxmlformats.org/drawingml/2006/main">
              <a:ext uri="{FF2B5EF4-FFF2-40B4-BE49-F238E27FC236}">
                <a16:creationId xmlns:a16="http://schemas.microsoft.com/office/drawing/2014/main" id="{C5D9BAF9-761F-4D03-8DC3-4A881721C573}"/>
              </a:ext>
            </a:extLst>
          </p:cNvPr>
          <p:cNvSpPr>
            <a:spLocks xmlns:a="http://schemas.openxmlformats.org/drawingml/2006/main" noGrp="1"/>
          </p:cNvSpPr>
          <p:nvPr/>
        </p:nvSpPr>
        <p:spPr>
          <a:xfrm xmlns:a="http://schemas.openxmlformats.org/drawingml/2006/main">
            <a:off x="609600" y="4629150"/>
            <a:ext cx="4572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1">
                <a:solidFill>
                  <a:srgbClr val="007D85"/>
                </a:solidFill>
                <a:latin typeface="Arial"/>
                <a:ea typeface="Arial"/>
                <a:cs typeface="Arial"/>
              </a:defRPr>
            </a:pPr>
            <a:r>
              <a:rPr sz="2025" b="1">
                <a:solidFill>
                  <a:srgbClr val="007D85"/>
                </a:solidFill>
                <a:latin typeface="Arial"/>
                <a:ea typeface="Arial"/>
                <a:cs typeface="Arial"/>
              </a:rPr>
              <a:t>One day, one operator and up to 200 records</a:t>
            </a:r>
          </a:p>
        </p:txBody>
      </p:sp>
      <p:sp>
        <p:nvSpPr>
          <p:cNvPr id="7" name="text-5">
            <a:extLst xmlns:a="http://schemas.openxmlformats.org/drawingml/2006/main">
              <a:ext uri="{FF2B5EF4-FFF2-40B4-BE49-F238E27FC236}">
                <a16:creationId xmlns:a16="http://schemas.microsoft.com/office/drawing/2014/main" id="{A5F87940-B15C-455F-BC60-9415FE412060}"/>
              </a:ext>
            </a:extLst>
          </p:cNvPr>
          <p:cNvSpPr>
            <a:spLocks xmlns:a="http://schemas.openxmlformats.org/drawingml/2006/main" noGrp="1"/>
          </p:cNvSpPr>
          <p:nvPr/>
        </p:nvSpPr>
        <p:spPr>
          <a:xfrm xmlns:a="http://schemas.openxmlformats.org/drawingml/2006/main">
            <a:off x="609600" y="5648325"/>
            <a:ext cx="457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526878"/>
                </a:solidFill>
                <a:latin typeface="Arial"/>
                <a:ea typeface="Arial"/>
                <a:cs typeface="Arial"/>
              </a:defRPr>
            </a:pPr>
            <a:r>
              <a:rPr sz="1800" b="0">
                <a:solidFill>
                  <a:srgbClr val="526878"/>
                </a:solidFill>
                <a:latin typeface="Arial"/>
                <a:ea typeface="Arial"/>
                <a:cs typeface="Arial"/>
              </a:rPr>
              <a:t>The 30-minute gate gap is a</a:t>
            </a:r>
          </a:p>
          <a:p xmlns:a="http://schemas.openxmlformats.org/drawingml/2006/main">
            <a:pPr algn="l">
              <a:lnSpc>
                <a:spcPct val="115000"/>
              </a:lnSpc>
              <a:buNone/>
              <a:defRPr sz="1800" b="0">
                <a:solidFill>
                  <a:srgbClr val="526878"/>
                </a:solidFill>
                <a:latin typeface="Arial"/>
                <a:ea typeface="Arial"/>
                <a:cs typeface="Arial"/>
              </a:defRPr>
            </a:pPr>
            <a:r>
              <a:rPr sz="1800" b="0">
                <a:solidFill>
                  <a:srgbClr val="526878"/>
                </a:solidFill>
                <a:latin typeface="Arial"/>
                <a:ea typeface="Arial"/>
                <a:cs typeface="Arial"/>
              </a:rPr>
              <a:t>classroom assumption.</a:t>
            </a:r>
          </a:p>
        </p:txBody>
      </p:sp>
    </p:spTree>
    <p:extLst>
      <p:ext uri="{BB962C8B-B14F-4D97-AF65-F5344CB8AC3E}">
        <p14:creationId xmlns:p14="http://schemas.microsoft.com/office/powerpoint/2010/main" val="1038271345"/>
      </p:ext>
    </p:extLst>
  </p:cSld>
</p:sld>
</file>

<file path=ppt/slides/slide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6C35DE4D-0B0E-4E9D-A38E-CD5DA14BE578}"/>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Sample flight board</a:t>
            </a:r>
          </a:p>
        </p:txBody>
      </p:sp>
      <p:sp>
        <p:nvSpPr>
          <p:cNvPr id="2" name="page-number">
            <a:extLst xmlns:a="http://schemas.openxmlformats.org/drawingml/2006/main">
              <a:ext uri="{FF2B5EF4-FFF2-40B4-BE49-F238E27FC236}">
                <a16:creationId xmlns:a16="http://schemas.microsoft.com/office/drawing/2014/main" id="{7292408B-F6ED-4152-A9A5-3A59499A1C2F}"/>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03</a:t>
            </a:r>
          </a:p>
        </p:txBody>
      </p:sp>
      <p:sp>
        <p:nvSpPr>
          <p:cNvPr id="3" name="text-2">
            <a:extLst xmlns:a="http://schemas.openxmlformats.org/drawingml/2006/main">
              <a:ext uri="{FF2B5EF4-FFF2-40B4-BE49-F238E27FC236}">
                <a16:creationId xmlns:a16="http://schemas.microsoft.com/office/drawing/2014/main" id="{1EE4D09F-253D-4304-8B5F-D269CFDBCFD2}"/>
              </a:ext>
            </a:extLst>
          </p:cNvPr>
          <p:cNvSpPr>
            <a:spLocks xmlns:a="http://schemas.openxmlformats.org/drawingml/2006/main" noGrp="1"/>
          </p:cNvSpPr>
          <p:nvPr/>
        </p:nvSpPr>
        <p:spPr>
          <a:xfrm xmlns:a="http://schemas.openxmlformats.org/drawingml/2006/main">
            <a:off x="609600" y="1295400"/>
            <a:ext cx="10934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0">
                <a:solidFill>
                  <a:srgbClr val="007D85"/>
                </a:solidFill>
                <a:latin typeface="Arial"/>
                <a:ea typeface="Arial"/>
                <a:cs typeface="Arial"/>
              </a:defRPr>
            </a:pPr>
            <a:r>
              <a:rPr sz="2025" b="0">
                <a:solidFill>
                  <a:srgbClr val="007D85"/>
                </a:solidFill>
                <a:latin typeface="Arial"/>
                <a:ea typeface="Arial"/>
                <a:cs typeface="Arial"/>
              </a:rPr>
              <a:t>The board orders records by expected departure time.</a:t>
            </a:r>
          </a:p>
        </p:txBody>
      </p:sp>
      <p:graphicFrame>
        <p:nvGraphicFramePr>
          <p:cNvPr id="9" name=""/>
          <p:cNvGraphicFramePr/>
          <p:nvPr/>
        </p:nvGraphicFramePr>
        <p:xfrm>
          <a:off xmlns:a="http://schemas.openxmlformats.org/drawingml/2006/main" x="609600" y="2009775"/>
          <a:ext xmlns:a="http://schemas.openxmlformats.org/drawingml/2006/main" cx="10972800" cy="3333750"/>
        </p:xfrm>
        <a:graphic xmlns:a="http://schemas.openxmlformats.org/drawingml/2006/main">
          <a:graphicData uri="http://schemas.openxmlformats.org/drawingml/2006/table">
            <a:tbl>
              <a:tblPr firstRow="1" bandRow="0"/>
              <a:tblGrid>
                <a:gridCol w="2000250"/>
                <a:gridCol w="2095500"/>
                <a:gridCol w="2095500"/>
                <a:gridCol w="1476375"/>
                <a:gridCol w="3305175"/>
              </a:tblGrid>
              <a:tr h="476250">
                <a:tc>
                  <a:txBody>
                    <a:bodyPr wrap="square">
                      <a:noAutofit/>
                    </a:bodyPr>
                    <a:lstStyle/>
                    <a:p>
                      <a:pPr algn="l"/>
                      <a:r>
                        <a:rPr sz="1800" b="1">
                          <a:solidFill>
                            <a:srgbClr val="FFFFFF"/>
                          </a:solidFill>
                          <a:latin typeface="Arial"/>
                          <a:ea typeface="Arial"/>
                          <a:cs typeface="Arial"/>
                        </a:rPr>
                        <a:t>Flight</a:t>
                      </a:r>
                    </a:p>
                  </a:txBody>
                  <a:tcPr marL="114300" marR="114300" marT="66675" marB="66675" anchor="ctr">
                    <a:solidFill>
                      <a:srgbClr val="052035"/>
                    </a:solidFill>
                  </a:tcPr>
                </a:tc>
                <a:tc>
                  <a:txBody>
                    <a:bodyPr wrap="square">
                      <a:noAutofit/>
                    </a:bodyPr>
                    <a:lstStyle/>
                    <a:p>
                      <a:pPr algn="l"/>
                      <a:r>
                        <a:rPr sz="1800" b="1">
                          <a:solidFill>
                            <a:srgbClr val="FFFFFF"/>
                          </a:solidFill>
                          <a:latin typeface="Arial"/>
                          <a:ea typeface="Arial"/>
                          <a:cs typeface="Arial"/>
                        </a:rPr>
                        <a:t>Scheduled</a:t>
                      </a:r>
                    </a:p>
                  </a:txBody>
                  <a:tcPr marL="114300" marR="114300" marT="66675" marB="66675" anchor="ctr">
                    <a:solidFill>
                      <a:srgbClr val="052035"/>
                    </a:solidFill>
                  </a:tcPr>
                </a:tc>
                <a:tc>
                  <a:txBody>
                    <a:bodyPr wrap="square">
                      <a:noAutofit/>
                    </a:bodyPr>
                    <a:lstStyle/>
                    <a:p>
                      <a:pPr algn="l"/>
                      <a:r>
                        <a:rPr sz="1800" b="1">
                          <a:solidFill>
                            <a:srgbClr val="FFFFFF"/>
                          </a:solidFill>
                          <a:latin typeface="Arial"/>
                          <a:ea typeface="Arial"/>
                          <a:cs typeface="Arial"/>
                        </a:rPr>
                        <a:t>Expected</a:t>
                      </a:r>
                    </a:p>
                  </a:txBody>
                  <a:tcPr marL="114300" marR="114300" marT="66675" marB="66675" anchor="ctr">
                    <a:solidFill>
                      <a:srgbClr val="052035"/>
                    </a:solidFill>
                  </a:tcPr>
                </a:tc>
                <a:tc>
                  <a:txBody>
                    <a:bodyPr wrap="square">
                      <a:noAutofit/>
                    </a:bodyPr>
                    <a:lstStyle/>
                    <a:p>
                      <a:pPr algn="l"/>
                      <a:r>
                        <a:rPr sz="1800" b="1">
                          <a:solidFill>
                            <a:srgbClr val="FFFFFF"/>
                          </a:solidFill>
                          <a:latin typeface="Arial"/>
                          <a:ea typeface="Arial"/>
                          <a:cs typeface="Arial"/>
                        </a:rPr>
                        <a:t>Gate</a:t>
                      </a:r>
                    </a:p>
                  </a:txBody>
                  <a:tcPr marL="114300" marR="114300" marT="66675" marB="66675" anchor="ctr">
                    <a:solidFill>
                      <a:srgbClr val="052035"/>
                    </a:solidFill>
                  </a:tcPr>
                </a:tc>
                <a:tc>
                  <a:txBody>
                    <a:bodyPr wrap="square">
                      <a:noAutofit/>
                    </a:bodyPr>
                    <a:lstStyle/>
                    <a:p>
                      <a:pPr algn="l"/>
                      <a:r>
                        <a:rPr sz="1800" b="1">
                          <a:solidFill>
                            <a:srgbClr val="FFFFFF"/>
                          </a:solidFill>
                          <a:latin typeface="Arial"/>
                          <a:ea typeface="Arial"/>
                          <a:cs typeface="Arial"/>
                        </a:rPr>
                        <a:t>Status</a:t>
                      </a:r>
                    </a:p>
                  </a:txBody>
                  <a:tcPr marL="114300" marR="114300" marT="66675" marB="66675" anchor="ctr">
                    <a:solidFill>
                      <a:srgbClr val="052035"/>
                    </a:solidFill>
                  </a:tcPr>
                </a:tc>
              </a:tr>
              <a:tr h="476250">
                <a:tc>
                  <a:txBody>
                    <a:bodyPr wrap="square">
                      <a:noAutofit/>
                    </a:bodyPr>
                    <a:lstStyle/>
                    <a:p>
                      <a:pPr algn="l"/>
                      <a:r>
                        <a:rPr sz="1800" b="0">
                          <a:solidFill>
                            <a:srgbClr val="132A3C"/>
                          </a:solidFill>
                          <a:latin typeface="Arial"/>
                          <a:ea typeface="Arial"/>
                          <a:cs typeface="Arial"/>
                        </a:rPr>
                        <a:t>AI606</a:t>
                      </a:r>
                    </a:p>
                  </a:txBody>
                  <a:tcPr marL="114300" marR="114300" marT="66675" marB="66675" anchor="ctr">
                    <a:solidFill>
                      <a:srgbClr val="FFFFFF"/>
                    </a:solidFill>
                  </a:tcPr>
                </a:tc>
                <a:tc>
                  <a:txBody>
                    <a:bodyPr wrap="square">
                      <a:noAutofit/>
                    </a:bodyPr>
                    <a:lstStyle/>
                    <a:p>
                      <a:pPr algn="l"/>
                      <a:r>
                        <a:rPr sz="1800" b="0">
                          <a:solidFill>
                            <a:srgbClr val="132A3C"/>
                          </a:solidFill>
                          <a:latin typeface="Arial"/>
                          <a:ea typeface="Arial"/>
                          <a:cs typeface="Arial"/>
                        </a:rPr>
                        <a:t>08:00</a:t>
                      </a:r>
                    </a:p>
                  </a:txBody>
                  <a:tcPr marL="114300" marR="114300" marT="66675" marB="66675" anchor="ctr">
                    <a:solidFill>
                      <a:srgbClr val="FFFFFF"/>
                    </a:solidFill>
                  </a:tcPr>
                </a:tc>
                <a:tc>
                  <a:txBody>
                    <a:bodyPr wrap="square">
                      <a:noAutofit/>
                    </a:bodyPr>
                    <a:lstStyle/>
                    <a:p>
                      <a:pPr algn="l"/>
                      <a:r>
                        <a:rPr sz="1800" b="0">
                          <a:solidFill>
                            <a:srgbClr val="132A3C"/>
                          </a:solidFill>
                          <a:latin typeface="Arial"/>
                          <a:ea typeface="Arial"/>
                          <a:cs typeface="Arial"/>
                        </a:rPr>
                        <a:t>08:00</a:t>
                      </a:r>
                    </a:p>
                  </a:txBody>
                  <a:tcPr marL="114300" marR="114300" marT="66675" marB="66675" anchor="ctr">
                    <a:solidFill>
                      <a:srgbClr val="FFFFFF"/>
                    </a:solidFill>
                  </a:tcPr>
                </a:tc>
                <a:tc>
                  <a:txBody>
                    <a:bodyPr wrap="square">
                      <a:noAutofit/>
                    </a:bodyPr>
                    <a:lstStyle/>
                    <a:p>
                      <a:pPr algn="l"/>
                      <a:r>
                        <a:rPr sz="1800" b="0">
                          <a:solidFill>
                            <a:srgbClr val="132A3C"/>
                          </a:solidFill>
                          <a:latin typeface="Arial"/>
                          <a:ea typeface="Arial"/>
                          <a:cs typeface="Arial"/>
                        </a:rPr>
                        <a:t>A2</a:t>
                      </a:r>
                    </a:p>
                  </a:txBody>
                  <a:tcPr marL="114300" marR="114300" marT="66675" marB="66675" anchor="ctr">
                    <a:solidFill>
                      <a:srgbClr val="FFFFFF"/>
                    </a:solidFill>
                  </a:tcPr>
                </a:tc>
                <a:tc>
                  <a:txBody>
                    <a:bodyPr wrap="square">
                      <a:noAutofit/>
                    </a:bodyPr>
                    <a:lstStyle/>
                    <a:p>
                      <a:pPr algn="l"/>
                      <a:r>
                        <a:rPr sz="1800" b="0">
                          <a:solidFill>
                            <a:srgbClr val="132A3C"/>
                          </a:solidFill>
                          <a:latin typeface="Arial"/>
                          <a:ea typeface="Arial"/>
                          <a:cs typeface="Arial"/>
                        </a:rPr>
                        <a:t>DEPARTED</a:t>
                      </a:r>
                    </a:p>
                  </a:txBody>
                  <a:tcPr marL="114300" marR="114300" marT="66675" marB="66675" anchor="ctr">
                    <a:solidFill>
                      <a:srgbClr val="FFFFFF"/>
                    </a:solidFill>
                  </a:tcPr>
                </a:tc>
              </a:tr>
              <a:tr h="476250">
                <a:tc>
                  <a:txBody>
                    <a:bodyPr wrap="square">
                      <a:noAutofit/>
                    </a:bodyPr>
                    <a:lstStyle/>
                    <a:p>
                      <a:pPr algn="l"/>
                      <a:r>
                        <a:rPr sz="1800" b="0">
                          <a:solidFill>
                            <a:srgbClr val="132A3C"/>
                          </a:solidFill>
                          <a:latin typeface="Arial"/>
                          <a:ea typeface="Arial"/>
                          <a:cs typeface="Arial"/>
                        </a:rPr>
                        <a:t>6E101</a:t>
                      </a:r>
                    </a:p>
                  </a:txBody>
                  <a:tcPr marL="114300" marR="114300" marT="66675" marB="66675" anchor="ctr">
                    <a:solidFill>
                      <a:srgbClr val="EDF3F8"/>
                    </a:solidFill>
                  </a:tcPr>
                </a:tc>
                <a:tc>
                  <a:txBody>
                    <a:bodyPr wrap="square">
                      <a:noAutofit/>
                    </a:bodyPr>
                    <a:lstStyle/>
                    <a:p>
                      <a:pPr algn="l"/>
                      <a:r>
                        <a:rPr sz="1800" b="0">
                          <a:solidFill>
                            <a:srgbClr val="132A3C"/>
                          </a:solidFill>
                          <a:latin typeface="Arial"/>
                          <a:ea typeface="Arial"/>
                          <a:cs typeface="Arial"/>
                        </a:rPr>
                        <a:t>09:00</a:t>
                      </a:r>
                    </a:p>
                  </a:txBody>
                  <a:tcPr marL="114300" marR="114300" marT="66675" marB="66675" anchor="ctr">
                    <a:solidFill>
                      <a:srgbClr val="EDF3F8"/>
                    </a:solidFill>
                  </a:tcPr>
                </a:tc>
                <a:tc>
                  <a:txBody>
                    <a:bodyPr wrap="square">
                      <a:noAutofit/>
                    </a:bodyPr>
                    <a:lstStyle/>
                    <a:p>
                      <a:pPr algn="l"/>
                      <a:r>
                        <a:rPr sz="1800" b="0">
                          <a:solidFill>
                            <a:srgbClr val="132A3C"/>
                          </a:solidFill>
                          <a:latin typeface="Arial"/>
                          <a:ea typeface="Arial"/>
                          <a:cs typeface="Arial"/>
                        </a:rPr>
                        <a:t>09:00</a:t>
                      </a:r>
                    </a:p>
                  </a:txBody>
                  <a:tcPr marL="114300" marR="114300" marT="66675" marB="66675" anchor="ctr">
                    <a:solidFill>
                      <a:srgbClr val="EDF3F8"/>
                    </a:solidFill>
                  </a:tcPr>
                </a:tc>
                <a:tc>
                  <a:txBody>
                    <a:bodyPr wrap="square">
                      <a:noAutofit/>
                    </a:bodyPr>
                    <a:lstStyle/>
                    <a:p>
                      <a:pPr algn="l"/>
                      <a:r>
                        <a:rPr sz="1800" b="0">
                          <a:solidFill>
                            <a:srgbClr val="132A3C"/>
                          </a:solidFill>
                          <a:latin typeface="Arial"/>
                          <a:ea typeface="Arial"/>
                          <a:cs typeface="Arial"/>
                        </a:rPr>
                        <a:t>A1</a:t>
                      </a:r>
                    </a:p>
                  </a:txBody>
                  <a:tcPr marL="114300" marR="114300" marT="66675" marB="66675" anchor="ctr">
                    <a:solidFill>
                      <a:srgbClr val="EDF3F8"/>
                    </a:solidFill>
                  </a:tcPr>
                </a:tc>
                <a:tc>
                  <a:txBody>
                    <a:bodyPr wrap="square">
                      <a:noAutofit/>
                    </a:bodyPr>
                    <a:lstStyle/>
                    <a:p>
                      <a:pPr algn="l"/>
                      <a:r>
                        <a:rPr sz="1800" b="0">
                          <a:solidFill>
                            <a:srgbClr val="132A3C"/>
                          </a:solidFill>
                          <a:latin typeface="Arial"/>
                          <a:ea typeface="Arial"/>
                          <a:cs typeface="Arial"/>
                        </a:rPr>
                        <a:t>SCHEDULED</a:t>
                      </a:r>
                    </a:p>
                  </a:txBody>
                  <a:tcPr marL="114300" marR="114300" marT="66675" marB="66675" anchor="ctr">
                    <a:solidFill>
                      <a:srgbClr val="EDF3F8"/>
                    </a:solidFill>
                  </a:tcPr>
                </a:tc>
              </a:tr>
              <a:tr h="476250">
                <a:tc>
                  <a:txBody>
                    <a:bodyPr wrap="square">
                      <a:noAutofit/>
                    </a:bodyPr>
                    <a:lstStyle/>
                    <a:p>
                      <a:pPr algn="l"/>
                      <a:r>
                        <a:rPr sz="1800" b="0">
                          <a:solidFill>
                            <a:srgbClr val="132A3C"/>
                          </a:solidFill>
                          <a:latin typeface="Arial"/>
                          <a:ea typeface="Arial"/>
                          <a:cs typeface="Arial"/>
                        </a:rPr>
                        <a:t>AI202</a:t>
                      </a:r>
                    </a:p>
                  </a:txBody>
                  <a:tcPr marL="114300" marR="114300" marT="66675" marB="66675" anchor="ctr">
                    <a:solidFill>
                      <a:srgbClr val="FFFFFF"/>
                    </a:solidFill>
                  </a:tcPr>
                </a:tc>
                <a:tc>
                  <a:txBody>
                    <a:bodyPr wrap="square">
                      <a:noAutofit/>
                    </a:bodyPr>
                    <a:lstStyle/>
                    <a:p>
                      <a:pPr algn="l"/>
                      <a:r>
                        <a:rPr sz="1800" b="0">
                          <a:solidFill>
                            <a:srgbClr val="132A3C"/>
                          </a:solidFill>
                          <a:latin typeface="Arial"/>
                          <a:ea typeface="Arial"/>
                          <a:cs typeface="Arial"/>
                        </a:rPr>
                        <a:t>09:45</a:t>
                      </a:r>
                    </a:p>
                  </a:txBody>
                  <a:tcPr marL="114300" marR="114300" marT="66675" marB="66675" anchor="ctr">
                    <a:solidFill>
                      <a:srgbClr val="FFFFFF"/>
                    </a:solidFill>
                  </a:tcPr>
                </a:tc>
                <a:tc>
                  <a:txBody>
                    <a:bodyPr wrap="square">
                      <a:noAutofit/>
                    </a:bodyPr>
                    <a:lstStyle/>
                    <a:p>
                      <a:pPr algn="l"/>
                      <a:r>
                        <a:rPr sz="1800" b="0">
                          <a:solidFill>
                            <a:srgbClr val="132A3C"/>
                          </a:solidFill>
                          <a:latin typeface="Arial"/>
                          <a:ea typeface="Arial"/>
                          <a:cs typeface="Arial"/>
                        </a:rPr>
                        <a:t>09:45</a:t>
                      </a:r>
                    </a:p>
                  </a:txBody>
                  <a:tcPr marL="114300" marR="114300" marT="66675" marB="66675" anchor="ctr">
                    <a:solidFill>
                      <a:srgbClr val="FFFFFF"/>
                    </a:solidFill>
                  </a:tcPr>
                </a:tc>
                <a:tc>
                  <a:txBody>
                    <a:bodyPr wrap="square">
                      <a:noAutofit/>
                    </a:bodyPr>
                    <a:lstStyle/>
                    <a:p>
                      <a:pPr algn="l"/>
                      <a:r>
                        <a:rPr sz="1800" b="0">
                          <a:solidFill>
                            <a:srgbClr val="132A3C"/>
                          </a:solidFill>
                          <a:latin typeface="Arial"/>
                          <a:ea typeface="Arial"/>
                          <a:cs typeface="Arial"/>
                        </a:rPr>
                        <a:t>A1</a:t>
                      </a:r>
                    </a:p>
                  </a:txBody>
                  <a:tcPr marL="114300" marR="114300" marT="66675" marB="66675" anchor="ctr">
                    <a:solidFill>
                      <a:srgbClr val="FFFFFF"/>
                    </a:solidFill>
                  </a:tcPr>
                </a:tc>
                <a:tc>
                  <a:txBody>
                    <a:bodyPr wrap="square">
                      <a:noAutofit/>
                    </a:bodyPr>
                    <a:lstStyle/>
                    <a:p>
                      <a:pPr algn="l"/>
                      <a:r>
                        <a:rPr sz="1800" b="0">
                          <a:solidFill>
                            <a:srgbClr val="132A3C"/>
                          </a:solidFill>
                          <a:latin typeface="Arial"/>
                          <a:ea typeface="Arial"/>
                          <a:cs typeface="Arial"/>
                        </a:rPr>
                        <a:t>SCHEDULED</a:t>
                      </a:r>
                    </a:p>
                  </a:txBody>
                  <a:tcPr marL="114300" marR="114300" marT="66675" marB="66675" anchor="ctr">
                    <a:solidFill>
                      <a:srgbClr val="FFFFFF"/>
                    </a:solidFill>
                  </a:tcPr>
                </a:tc>
              </a:tr>
              <a:tr h="476250">
                <a:tc>
                  <a:txBody>
                    <a:bodyPr wrap="square">
                      <a:noAutofit/>
                    </a:bodyPr>
                    <a:lstStyle/>
                    <a:p>
                      <a:pPr algn="l"/>
                      <a:r>
                        <a:rPr sz="1800" b="0">
                          <a:solidFill>
                            <a:srgbClr val="132A3C"/>
                          </a:solidFill>
                          <a:latin typeface="Arial"/>
                          <a:ea typeface="Arial"/>
                          <a:cs typeface="Arial"/>
                        </a:rPr>
                        <a:t>6E303</a:t>
                      </a:r>
                    </a:p>
                  </a:txBody>
                  <a:tcPr marL="114300" marR="114300" marT="66675" marB="66675" anchor="ctr">
                    <a:solidFill>
                      <a:srgbClr val="EDF3F8"/>
                    </a:solidFill>
                  </a:tcPr>
                </a:tc>
                <a:tc>
                  <a:txBody>
                    <a:bodyPr wrap="square">
                      <a:noAutofit/>
                    </a:bodyPr>
                    <a:lstStyle/>
                    <a:p>
                      <a:pPr algn="l"/>
                      <a:r>
                        <a:rPr sz="1800" b="0">
                          <a:solidFill>
                            <a:srgbClr val="132A3C"/>
                          </a:solidFill>
                          <a:latin typeface="Arial"/>
                          <a:ea typeface="Arial"/>
                          <a:cs typeface="Arial"/>
                        </a:rPr>
                        <a:t>10:00</a:t>
                      </a:r>
                    </a:p>
                  </a:txBody>
                  <a:tcPr marL="114300" marR="114300" marT="66675" marB="66675" anchor="ctr">
                    <a:solidFill>
                      <a:srgbClr val="EDF3F8"/>
                    </a:solidFill>
                  </a:tcPr>
                </a:tc>
                <a:tc>
                  <a:txBody>
                    <a:bodyPr wrap="square">
                      <a:noAutofit/>
                    </a:bodyPr>
                    <a:lstStyle/>
                    <a:p>
                      <a:pPr algn="l"/>
                      <a:r>
                        <a:rPr sz="1800" b="0">
                          <a:solidFill>
                            <a:srgbClr val="132A3C"/>
                          </a:solidFill>
                          <a:latin typeface="Arial"/>
                          <a:ea typeface="Arial"/>
                          <a:cs typeface="Arial"/>
                        </a:rPr>
                        <a:t>10:15</a:t>
                      </a:r>
                    </a:p>
                  </a:txBody>
                  <a:tcPr marL="114300" marR="114300" marT="66675" marB="66675" anchor="ctr">
                    <a:solidFill>
                      <a:srgbClr val="EDF3F8"/>
                    </a:solidFill>
                  </a:tcPr>
                </a:tc>
                <a:tc>
                  <a:txBody>
                    <a:bodyPr wrap="square">
                      <a:noAutofit/>
                    </a:bodyPr>
                    <a:lstStyle/>
                    <a:p>
                      <a:pPr algn="l"/>
                      <a:r>
                        <a:rPr sz="1800" b="0">
                          <a:solidFill>
                            <a:srgbClr val="132A3C"/>
                          </a:solidFill>
                          <a:latin typeface="Arial"/>
                          <a:ea typeface="Arial"/>
                          <a:cs typeface="Arial"/>
                        </a:rPr>
                        <a:t>B1</a:t>
                      </a:r>
                    </a:p>
                  </a:txBody>
                  <a:tcPr marL="114300" marR="114300" marT="66675" marB="66675" anchor="ctr">
                    <a:solidFill>
                      <a:srgbClr val="EDF3F8"/>
                    </a:solidFill>
                  </a:tcPr>
                </a:tc>
                <a:tc>
                  <a:txBody>
                    <a:bodyPr wrap="square">
                      <a:noAutofit/>
                    </a:bodyPr>
                    <a:lstStyle/>
                    <a:p>
                      <a:pPr algn="l"/>
                      <a:r>
                        <a:rPr sz="1800" b="0">
                          <a:solidFill>
                            <a:srgbClr val="132A3C"/>
                          </a:solidFill>
                          <a:latin typeface="Arial"/>
                          <a:ea typeface="Arial"/>
                          <a:cs typeface="Arial"/>
                        </a:rPr>
                        <a:t>DELAYED</a:t>
                      </a:r>
                    </a:p>
                  </a:txBody>
                  <a:tcPr marL="114300" marR="114300" marT="66675" marB="66675" anchor="ctr">
                    <a:solidFill>
                      <a:srgbClr val="EDF3F8"/>
                    </a:solidFill>
                  </a:tcPr>
                </a:tc>
              </a:tr>
              <a:tr h="476250">
                <a:tc>
                  <a:txBody>
                    <a:bodyPr wrap="square">
                      <a:noAutofit/>
                    </a:bodyPr>
                    <a:lstStyle/>
                    <a:p>
                      <a:pPr algn="l"/>
                      <a:r>
                        <a:rPr sz="1800" b="0">
                          <a:solidFill>
                            <a:srgbClr val="132A3C"/>
                          </a:solidFill>
                          <a:latin typeface="Arial"/>
                          <a:ea typeface="Arial"/>
                          <a:cs typeface="Arial"/>
                        </a:rPr>
                        <a:t>AI404</a:t>
                      </a:r>
                    </a:p>
                  </a:txBody>
                  <a:tcPr marL="114300" marR="114300" marT="66675" marB="66675" anchor="ctr">
                    <a:solidFill>
                      <a:srgbClr val="FFFFFF"/>
                    </a:solidFill>
                  </a:tcPr>
                </a:tc>
                <a:tc>
                  <a:txBody>
                    <a:bodyPr wrap="square">
                      <a:noAutofit/>
                    </a:bodyPr>
                    <a:lstStyle/>
                    <a:p>
                      <a:pPr algn="l"/>
                      <a:r>
                        <a:rPr sz="1800" b="0">
                          <a:solidFill>
                            <a:srgbClr val="132A3C"/>
                          </a:solidFill>
                          <a:latin typeface="Arial"/>
                          <a:ea typeface="Arial"/>
                          <a:cs typeface="Arial"/>
                        </a:rPr>
                        <a:t>10:45</a:t>
                      </a:r>
                    </a:p>
                  </a:txBody>
                  <a:tcPr marL="114300" marR="114300" marT="66675" marB="66675" anchor="ctr">
                    <a:solidFill>
                      <a:srgbClr val="FFFFFF"/>
                    </a:solidFill>
                  </a:tcPr>
                </a:tc>
                <a:tc>
                  <a:txBody>
                    <a:bodyPr wrap="square">
                      <a:noAutofit/>
                    </a:bodyPr>
                    <a:lstStyle/>
                    <a:p>
                      <a:pPr algn="l"/>
                      <a:r>
                        <a:rPr sz="1800" b="0">
                          <a:solidFill>
                            <a:srgbClr val="132A3C"/>
                          </a:solidFill>
                          <a:latin typeface="Arial"/>
                          <a:ea typeface="Arial"/>
                          <a:cs typeface="Arial"/>
                        </a:rPr>
                        <a:t>10:45</a:t>
                      </a:r>
                    </a:p>
                  </a:txBody>
                  <a:tcPr marL="114300" marR="114300" marT="66675" marB="66675" anchor="ctr">
                    <a:solidFill>
                      <a:srgbClr val="FFFFFF"/>
                    </a:solidFill>
                  </a:tcPr>
                </a:tc>
                <a:tc>
                  <a:txBody>
                    <a:bodyPr wrap="square">
                      <a:noAutofit/>
                    </a:bodyPr>
                    <a:lstStyle/>
                    <a:p>
                      <a:pPr algn="l"/>
                      <a:r>
                        <a:rPr sz="1800" b="0">
                          <a:solidFill>
                            <a:srgbClr val="132A3C"/>
                          </a:solidFill>
                          <a:latin typeface="Arial"/>
                          <a:ea typeface="Arial"/>
                          <a:cs typeface="Arial"/>
                        </a:rPr>
                        <a:t>B1</a:t>
                      </a:r>
                    </a:p>
                  </a:txBody>
                  <a:tcPr marL="114300" marR="114300" marT="66675" marB="66675" anchor="ctr">
                    <a:solidFill>
                      <a:srgbClr val="FFFFFF"/>
                    </a:solidFill>
                  </a:tcPr>
                </a:tc>
                <a:tc>
                  <a:txBody>
                    <a:bodyPr wrap="square">
                      <a:noAutofit/>
                    </a:bodyPr>
                    <a:lstStyle/>
                    <a:p>
                      <a:pPr algn="l"/>
                      <a:r>
                        <a:rPr sz="1800" b="0">
                          <a:solidFill>
                            <a:srgbClr val="132A3C"/>
                          </a:solidFill>
                          <a:latin typeface="Arial"/>
                          <a:ea typeface="Arial"/>
                          <a:cs typeface="Arial"/>
                        </a:rPr>
                        <a:t>BOARDING</a:t>
                      </a:r>
                    </a:p>
                  </a:txBody>
                  <a:tcPr marL="114300" marR="114300" marT="66675" marB="66675" anchor="ctr">
                    <a:solidFill>
                      <a:srgbClr val="FFFFFF"/>
                    </a:solidFill>
                  </a:tcPr>
                </a:tc>
              </a:tr>
              <a:tr h="476250">
                <a:tc>
                  <a:txBody>
                    <a:bodyPr wrap="square">
                      <a:noAutofit/>
                    </a:bodyPr>
                    <a:lstStyle/>
                    <a:p>
                      <a:pPr algn="l"/>
                      <a:r>
                        <a:rPr sz="1800" b="0">
                          <a:solidFill>
                            <a:srgbClr val="132A3C"/>
                          </a:solidFill>
                          <a:latin typeface="Arial"/>
                          <a:ea typeface="Arial"/>
                          <a:cs typeface="Arial"/>
                        </a:rPr>
                        <a:t>6E505</a:t>
                      </a:r>
                    </a:p>
                  </a:txBody>
                  <a:tcPr marL="114300" marR="114300" marT="66675" marB="66675" anchor="ctr">
                    <a:solidFill>
                      <a:srgbClr val="EDF3F8"/>
                    </a:solidFill>
                  </a:tcPr>
                </a:tc>
                <a:tc>
                  <a:txBody>
                    <a:bodyPr wrap="square">
                      <a:noAutofit/>
                    </a:bodyPr>
                    <a:lstStyle/>
                    <a:p>
                      <a:pPr algn="l"/>
                      <a:r>
                        <a:rPr sz="1800" b="0">
                          <a:solidFill>
                            <a:srgbClr val="132A3C"/>
                          </a:solidFill>
                          <a:latin typeface="Arial"/>
                          <a:ea typeface="Arial"/>
                          <a:cs typeface="Arial"/>
                        </a:rPr>
                        <a:t>11:15</a:t>
                      </a:r>
                    </a:p>
                  </a:txBody>
                  <a:tcPr marL="114300" marR="114300" marT="66675" marB="66675" anchor="ctr">
                    <a:solidFill>
                      <a:srgbClr val="EDF3F8"/>
                    </a:solidFill>
                  </a:tcPr>
                </a:tc>
                <a:tc>
                  <a:txBody>
                    <a:bodyPr wrap="square">
                      <a:noAutofit/>
                    </a:bodyPr>
                    <a:lstStyle/>
                    <a:p>
                      <a:pPr algn="l"/>
                      <a:r>
                        <a:rPr sz="1800" b="0">
                          <a:solidFill>
                            <a:srgbClr val="132A3C"/>
                          </a:solidFill>
                          <a:latin typeface="Arial"/>
                          <a:ea typeface="Arial"/>
                          <a:cs typeface="Arial"/>
                        </a:rPr>
                        <a:t>11:15</a:t>
                      </a:r>
                    </a:p>
                  </a:txBody>
                  <a:tcPr marL="114300" marR="114300" marT="66675" marB="66675" anchor="ctr">
                    <a:solidFill>
                      <a:srgbClr val="EDF3F8"/>
                    </a:solidFill>
                  </a:tcPr>
                </a:tc>
                <a:tc>
                  <a:txBody>
                    <a:bodyPr wrap="square">
                      <a:noAutofit/>
                    </a:bodyPr>
                    <a:lstStyle/>
                    <a:p>
                      <a:pPr algn="l"/>
                      <a:r>
                        <a:rPr sz="1800" b="0">
                          <a:solidFill>
                            <a:srgbClr val="132A3C"/>
                          </a:solidFill>
                          <a:latin typeface="Arial"/>
                          <a:ea typeface="Arial"/>
                          <a:cs typeface="Arial"/>
                        </a:rPr>
                        <a:t>C1</a:t>
                      </a:r>
                    </a:p>
                  </a:txBody>
                  <a:tcPr marL="114300" marR="114300" marT="66675" marB="66675" anchor="ctr">
                    <a:solidFill>
                      <a:srgbClr val="EDF3F8"/>
                    </a:solidFill>
                  </a:tcPr>
                </a:tc>
                <a:tc>
                  <a:txBody>
                    <a:bodyPr wrap="square">
                      <a:noAutofit/>
                    </a:bodyPr>
                    <a:lstStyle/>
                    <a:p>
                      <a:pPr algn="l"/>
                      <a:r>
                        <a:rPr sz="1800" b="0">
                          <a:solidFill>
                            <a:srgbClr val="132A3C"/>
                          </a:solidFill>
                          <a:latin typeface="Arial"/>
                          <a:ea typeface="Arial"/>
                          <a:cs typeface="Arial"/>
                        </a:rPr>
                        <a:t>CANCELLED</a:t>
                      </a:r>
                    </a:p>
                  </a:txBody>
                  <a:tcPr marL="114300" marR="114300" marT="66675" marB="66675" anchor="ctr">
                    <a:solidFill>
                      <a:srgbClr val="EDF3F8"/>
                    </a:solidFill>
                  </a:tcPr>
                </a:tc>
              </a:tr>
            </a:tbl>
          </a:graphicData>
        </a:graphic>
      </p:graphicFrame>
      <p:sp>
        <p:nvSpPr>
          <p:cNvPr id="5" name="text-3">
            <a:extLst xmlns:a="http://schemas.openxmlformats.org/drawingml/2006/main">
              <a:ext uri="{FF2B5EF4-FFF2-40B4-BE49-F238E27FC236}">
                <a16:creationId xmlns:a16="http://schemas.microsoft.com/office/drawing/2014/main" id="{6479CE8C-4E6A-404F-8F05-6943F9658FCF}"/>
              </a:ext>
            </a:extLst>
          </p:cNvPr>
          <p:cNvSpPr>
            <a:spLocks xmlns:a="http://schemas.openxmlformats.org/drawingml/2006/main" noGrp="1"/>
          </p:cNvSpPr>
          <p:nvPr/>
        </p:nvSpPr>
        <p:spPr>
          <a:xfrm xmlns:a="http://schemas.openxmlformats.org/drawingml/2006/main">
            <a:off x="609600" y="5715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132A3C"/>
                </a:solidFill>
                <a:latin typeface="Arial"/>
                <a:ea typeface="Arial"/>
                <a:cs typeface="Arial"/>
              </a:defRPr>
            </a:pPr>
            <a:r>
              <a:rPr sz="1950" b="0">
                <a:solidFill>
                  <a:srgbClr val="132A3C"/>
                </a:solidFill>
                <a:latin typeface="Arial"/>
                <a:ea typeface="Arial"/>
                <a:cs typeface="Arial"/>
              </a:rPr>
              <a:t>Scheduled time stays fixed. Expected time includes the total delay.</a:t>
            </a:r>
          </a:p>
        </p:txBody>
      </p:sp>
    </p:spTree>
    <p:extLst>
      <p:ext uri="{BB962C8B-B14F-4D97-AF65-F5344CB8AC3E}">
        <p14:creationId xmlns:p14="http://schemas.microsoft.com/office/powerpoint/2010/main" val="1051547987"/>
      </p:ext>
    </p:extLst>
  </p:cSld>
</p:sld>
</file>

<file path=ppt/slides/slide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B01BE735-A6E7-42E9-830C-10D65B6AC2FB}"/>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Variables, constants and data types</a:t>
            </a:r>
          </a:p>
        </p:txBody>
      </p:sp>
      <p:sp>
        <p:nvSpPr>
          <p:cNvPr id="2" name="source">
            <a:extLst xmlns:a="http://schemas.openxmlformats.org/drawingml/2006/main">
              <a:ext uri="{FF2B5EF4-FFF2-40B4-BE49-F238E27FC236}">
                <a16:creationId xmlns:a16="http://schemas.microsoft.com/office/drawing/2014/main" id="{A5FD57ED-29B2-40B9-ADB3-7DC9003F814A}"/>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FlightScheduler.java and AirportApp.java   Code excerpt</a:t>
            </a:r>
          </a:p>
        </p:txBody>
      </p:sp>
      <p:sp>
        <p:nvSpPr>
          <p:cNvPr id="3" name="page-number">
            <a:extLst xmlns:a="http://schemas.openxmlformats.org/drawingml/2006/main">
              <a:ext uri="{FF2B5EF4-FFF2-40B4-BE49-F238E27FC236}">
                <a16:creationId xmlns:a16="http://schemas.microsoft.com/office/drawing/2014/main" id="{47AC97C0-4728-4175-A046-63D56E20F43D}"/>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04</a:t>
            </a:r>
          </a:p>
        </p:txBody>
      </p:sp>
      <p:sp>
        <p:nvSpPr>
          <p:cNvPr id="4" name="editable-code">
            <a:extLst xmlns:a="http://schemas.openxmlformats.org/drawingml/2006/main">
              <a:ext uri="{FF2B5EF4-FFF2-40B4-BE49-F238E27FC236}">
                <a16:creationId xmlns:a16="http://schemas.microsoft.com/office/drawing/2014/main" id="{5B8B93D4-56CA-42DF-99F8-2AA00C5F82AA}"/>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public static final int MAX_FLIGHTS = 200;</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public static final int GATE_GAP_MINUTES = 30;</a:t>
            </a:r>
          </a:p>
          <a:p xmlns:a="http://schemas.openxmlformats.org/drawingml/2006/main">
            <a:r>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private int count = 0;</a:t>
            </a:r>
          </a:p>
          <a:p xmlns:a="http://schemas.openxmlformats.org/drawingml/2006/main">
            <a:r>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boolean running = true;</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double averageDelay = 0.0;</a:t>
            </a:r>
          </a:p>
        </p:txBody>
      </p:sp>
      <p:sp>
        <p:nvSpPr>
          <p:cNvPr id="5" name="text-4">
            <a:extLst xmlns:a="http://schemas.openxmlformats.org/drawingml/2006/main">
              <a:ext uri="{FF2B5EF4-FFF2-40B4-BE49-F238E27FC236}">
                <a16:creationId xmlns:a16="http://schemas.microsoft.com/office/drawing/2014/main" id="{0FE2501C-22A6-4067-9CB9-E28FDF412619}"/>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85CA03D0-BA44-45B5-9138-1E5974F3BDB4}"/>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Store fixed limits, flight counts and numeric results.</a:t>
            </a:r>
          </a:p>
        </p:txBody>
      </p:sp>
      <p:sp>
        <p:nvSpPr>
          <p:cNvPr id="7" name="text-6">
            <a:extLst xmlns:a="http://schemas.openxmlformats.org/drawingml/2006/main">
              <a:ext uri="{FF2B5EF4-FFF2-40B4-BE49-F238E27FC236}">
                <a16:creationId xmlns:a16="http://schemas.microsoft.com/office/drawing/2014/main" id="{0AFD8F0A-3505-4CD4-8C0B-2C12DD5249EC}"/>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CE12E89A-CCB4-4152-B6B8-BE72C9AA4786}"/>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int: minutes and counts</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boolean: decisions</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double: averages</a:t>
            </a:r>
          </a:p>
        </p:txBody>
      </p:sp>
      <p:sp>
        <p:nvSpPr>
          <p:cNvPr id="9" name="takeaway">
            <a:extLst xmlns:a="http://schemas.openxmlformats.org/drawingml/2006/main">
              <a:ext uri="{FF2B5EF4-FFF2-40B4-BE49-F238E27FC236}">
                <a16:creationId xmlns:a16="http://schemas.microsoft.com/office/drawing/2014/main" id="{9CE5AB9F-82F8-45B2-B824-022D5FC76F27}"/>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A named constant keeps the gate-gap rule consistent.</a:t>
            </a:r>
          </a:p>
        </p:txBody>
      </p:sp>
    </p:spTree>
    <p:extLst>
      <p:ext uri="{BB962C8B-B14F-4D97-AF65-F5344CB8AC3E}">
        <p14:creationId xmlns:p14="http://schemas.microsoft.com/office/powerpoint/2010/main" val="1172321420"/>
      </p:ext>
    </p:extLst>
  </p:cSld>
</p:sld>
</file>

<file path=ppt/slides/slide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B2F84276-7F39-4514-8BE1-02679A26E021}"/>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Classes, objects and fields</a:t>
            </a:r>
          </a:p>
        </p:txBody>
      </p:sp>
      <p:sp>
        <p:nvSpPr>
          <p:cNvPr id="2" name="source">
            <a:extLst xmlns:a="http://schemas.openxmlformats.org/drawingml/2006/main">
              <a:ext uri="{FF2B5EF4-FFF2-40B4-BE49-F238E27FC236}">
                <a16:creationId xmlns:a16="http://schemas.microsoft.com/office/drawing/2014/main" id="{84FA4175-0B4B-4CEA-A465-4D0480080FF7}"/>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Flight.java and AirportApp.addFlight   Code excerpt</a:t>
            </a:r>
          </a:p>
        </p:txBody>
      </p:sp>
      <p:sp>
        <p:nvSpPr>
          <p:cNvPr id="3" name="page-number">
            <a:extLst xmlns:a="http://schemas.openxmlformats.org/drawingml/2006/main">
              <a:ext uri="{FF2B5EF4-FFF2-40B4-BE49-F238E27FC236}">
                <a16:creationId xmlns:a16="http://schemas.microsoft.com/office/drawing/2014/main" id="{8451C234-F61A-41D6-9EE8-74678CEED860}"/>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05</a:t>
            </a:r>
          </a:p>
        </p:txBody>
      </p:sp>
      <p:sp>
        <p:nvSpPr>
          <p:cNvPr id="4" name="editable-code">
            <a:extLst xmlns:a="http://schemas.openxmlformats.org/drawingml/2006/main">
              <a:ext uri="{FF2B5EF4-FFF2-40B4-BE49-F238E27FC236}">
                <a16:creationId xmlns:a16="http://schemas.microsoft.com/office/drawing/2014/main" id="{735C4E40-9E9A-4890-9FB3-CA3AC1CEB6CE}"/>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Fields inside the Flight class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private final String number;</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private final String airline;</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private final int scheduledMinutes;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private int expectedMinutes;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private String gate;</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private String status;</a:t>
            </a:r>
          </a:p>
          <a:p xmlns:a="http://schemas.openxmlformats.org/drawingml/2006/main">
            <a:r>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Object creation inside AirportApp</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Flight flight = new Flight(number, airline,</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origin, destination, scheduled, scheduled,</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gate, Flight.SCHEDULED);</a:t>
            </a:r>
          </a:p>
        </p:txBody>
      </p:sp>
      <p:sp>
        <p:nvSpPr>
          <p:cNvPr id="5" name="text-4">
            <a:extLst xmlns:a="http://schemas.openxmlformats.org/drawingml/2006/main">
              <a:ext uri="{FF2B5EF4-FFF2-40B4-BE49-F238E27FC236}">
                <a16:creationId xmlns:a16="http://schemas.microsoft.com/office/drawing/2014/main" id="{D69E7838-811F-4C5D-800B-692DBD60CB1B}"/>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E2A4A3D7-8C95-4BC0-B44D-CC6B07027B4A}"/>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Keep each flight’s related details in one object.</a:t>
            </a:r>
          </a:p>
        </p:txBody>
      </p:sp>
      <p:sp>
        <p:nvSpPr>
          <p:cNvPr id="7" name="text-6">
            <a:extLst xmlns:a="http://schemas.openxmlformats.org/drawingml/2006/main">
              <a:ext uri="{FF2B5EF4-FFF2-40B4-BE49-F238E27FC236}">
                <a16:creationId xmlns:a16="http://schemas.microsoft.com/office/drawing/2014/main" id="{89714210-C8AA-4C91-B6A7-F20907B30A01}"/>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4113A7A6-5D9B-475D-A949-2FFAC099FACF}"/>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6E101 and AI202</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are separate</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Flight objects.</a:t>
            </a:r>
          </a:p>
        </p:txBody>
      </p:sp>
      <p:sp>
        <p:nvSpPr>
          <p:cNvPr id="9" name="takeaway">
            <a:extLst xmlns:a="http://schemas.openxmlformats.org/drawingml/2006/main">
              <a:ext uri="{FF2B5EF4-FFF2-40B4-BE49-F238E27FC236}">
                <a16:creationId xmlns:a16="http://schemas.microsoft.com/office/drawing/2014/main" id="{C83CD0D6-6777-49D2-AB6E-A8EF3EA0DBD6}"/>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A class describes a record. Each object holds its own values.</a:t>
            </a:r>
          </a:p>
        </p:txBody>
      </p:sp>
    </p:spTree>
    <p:extLst>
      <p:ext uri="{BB962C8B-B14F-4D97-AF65-F5344CB8AC3E}">
        <p14:creationId xmlns:p14="http://schemas.microsoft.com/office/powerpoint/2010/main" val="2127722506"/>
      </p:ext>
    </p:extLst>
  </p:cSld>
</p:sld>
</file>

<file path=ppt/slides/slide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83FA47F2-437A-4434-B9DD-6D1ADA53874F}"/>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Parameterized constructor and this</a:t>
            </a:r>
          </a:p>
        </p:txBody>
      </p:sp>
      <p:sp>
        <p:nvSpPr>
          <p:cNvPr id="2" name="source">
            <a:extLst xmlns:a="http://schemas.openxmlformats.org/drawingml/2006/main">
              <a:ext uri="{FF2B5EF4-FFF2-40B4-BE49-F238E27FC236}">
                <a16:creationId xmlns:a16="http://schemas.microsoft.com/office/drawing/2014/main" id="{0B0A1FF3-54F7-4A06-AB53-347493799AA0}"/>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Flight constructor   Code excerpt</a:t>
            </a:r>
          </a:p>
        </p:txBody>
      </p:sp>
      <p:sp>
        <p:nvSpPr>
          <p:cNvPr id="3" name="page-number">
            <a:extLst xmlns:a="http://schemas.openxmlformats.org/drawingml/2006/main">
              <a:ext uri="{FF2B5EF4-FFF2-40B4-BE49-F238E27FC236}">
                <a16:creationId xmlns:a16="http://schemas.microsoft.com/office/drawing/2014/main" id="{DD2F386F-453E-4F2E-B9F7-BD57A770E333}"/>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06</a:t>
            </a:r>
          </a:p>
        </p:txBody>
      </p:sp>
      <p:sp>
        <p:nvSpPr>
          <p:cNvPr id="4" name="editable-code">
            <a:extLst xmlns:a="http://schemas.openxmlformats.org/drawingml/2006/main">
              <a:ext uri="{FF2B5EF4-FFF2-40B4-BE49-F238E27FC236}">
                <a16:creationId xmlns:a16="http://schemas.microsoft.com/office/drawing/2014/main" id="{091BB322-D321-4843-9D4C-ADF5FA3C8165}"/>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public Flight(String number, String airline,</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String origin, String destination,</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int scheduledMinutes, int expectedMinutes,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String gate, String status) {</a:t>
            </a:r>
          </a:p>
          <a:p xmlns:a="http://schemas.openxmlformats.org/drawingml/2006/main">
            <a:r>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this.number = cleanText(number, "Flight number")</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.toUpperCase(Locale.ROOT);</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this.airline = cleanText(airline, "Airline");</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this.scheduledMinutes = scheduledMinutes;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updateBoardDetails(expectedMinutes, gate, status);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a:t>
            </a:r>
          </a:p>
        </p:txBody>
      </p:sp>
      <p:sp>
        <p:nvSpPr>
          <p:cNvPr id="5" name="text-4">
            <a:extLst xmlns:a="http://schemas.openxmlformats.org/drawingml/2006/main">
              <a:ext uri="{FF2B5EF4-FFF2-40B4-BE49-F238E27FC236}">
                <a16:creationId xmlns:a16="http://schemas.microsoft.com/office/drawing/2014/main" id="{B6C293A7-5F0A-47EE-BD9A-053DEDD0F8C6}"/>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112E0804-8E80-43CC-94B5-BAA0A030C7B9}"/>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Create a flight with valid details from the start.</a:t>
            </a:r>
          </a:p>
        </p:txBody>
      </p:sp>
      <p:sp>
        <p:nvSpPr>
          <p:cNvPr id="7" name="text-6">
            <a:extLst xmlns:a="http://schemas.openxmlformats.org/drawingml/2006/main">
              <a:ext uri="{FF2B5EF4-FFF2-40B4-BE49-F238E27FC236}">
                <a16:creationId xmlns:a16="http://schemas.microsoft.com/office/drawing/2014/main" id="{7124819A-0604-4F67-BFFB-D2BA73F87B83}"/>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669A707C-04BA-4DEC-B3DF-D6615456778A}"/>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this.number is</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the object field.</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number is a parameter.</a:t>
            </a:r>
          </a:p>
        </p:txBody>
      </p:sp>
      <p:sp>
        <p:nvSpPr>
          <p:cNvPr id="9" name="takeaway">
            <a:extLst xmlns:a="http://schemas.openxmlformats.org/drawingml/2006/main">
              <a:ext uri="{FF2B5EF4-FFF2-40B4-BE49-F238E27FC236}">
                <a16:creationId xmlns:a16="http://schemas.microsoft.com/office/drawing/2014/main" id="{F62C7839-077D-485C-8639-4B05E4EECF53}"/>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The complete constructor validates the route, time and gate.</a:t>
            </a:r>
          </a:p>
        </p:txBody>
      </p:sp>
    </p:spTree>
    <p:extLst>
      <p:ext uri="{BB962C8B-B14F-4D97-AF65-F5344CB8AC3E}">
        <p14:creationId xmlns:p14="http://schemas.microsoft.com/office/powerpoint/2010/main" val="388053335"/>
      </p:ext>
    </p:extLst>
  </p:cSld>
</p:sld>
</file>

<file path=ppt/slides/slide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4BC96BF6-9396-40A7-8560-44E558C03B4B}"/>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Encapsulation and controlled updates</a:t>
            </a:r>
          </a:p>
        </p:txBody>
      </p:sp>
      <p:sp>
        <p:nvSpPr>
          <p:cNvPr id="2" name="source">
            <a:extLst xmlns:a="http://schemas.openxmlformats.org/drawingml/2006/main">
              <a:ext uri="{FF2B5EF4-FFF2-40B4-BE49-F238E27FC236}">
                <a16:creationId xmlns:a16="http://schemas.microsoft.com/office/drawing/2014/main" id="{8FE0626A-C398-4FB4-9A4D-036E53B37A86}"/>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Flight.java   Code excerpt</a:t>
            </a:r>
          </a:p>
        </p:txBody>
      </p:sp>
      <p:sp>
        <p:nvSpPr>
          <p:cNvPr id="3" name="page-number">
            <a:extLst xmlns:a="http://schemas.openxmlformats.org/drawingml/2006/main">
              <a:ext uri="{FF2B5EF4-FFF2-40B4-BE49-F238E27FC236}">
                <a16:creationId xmlns:a16="http://schemas.microsoft.com/office/drawing/2014/main" id="{ECFA7654-EB60-40C9-896A-E8DE2F56C8D1}"/>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07</a:t>
            </a:r>
          </a:p>
        </p:txBody>
      </p:sp>
      <p:sp>
        <p:nvSpPr>
          <p:cNvPr id="4" name="editable-code">
            <a:extLst xmlns:a="http://schemas.openxmlformats.org/drawingml/2006/main">
              <a:ext uri="{FF2B5EF4-FFF2-40B4-BE49-F238E27FC236}">
                <a16:creationId xmlns:a16="http://schemas.microsoft.com/office/drawing/2014/main" id="{D2AFA6BE-D7C0-4583-9AD1-8C49030147DD}"/>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private int expectedMinutes;</a:t>
            </a:r>
          </a:p>
          <a:p xmlns:a="http://schemas.openxmlformats.org/drawingml/2006/main">
            <a:r>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public int getExpectedMinutes()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return expectedMinutes;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a:t>
            </a:r>
          </a:p>
          <a:p xmlns:a="http://schemas.openxmlformats.org/drawingml/2006/main">
            <a:r>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void updateBoardDetails(int expectedMinutes,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String gate, String status)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 Validation runs before these assignments.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this.expectedMinutes = expectedMinutes;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this.gate = gate;</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this.status = status;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a:t>
            </a:r>
          </a:p>
        </p:txBody>
      </p:sp>
      <p:sp>
        <p:nvSpPr>
          <p:cNvPr id="5" name="text-4">
            <a:extLst xmlns:a="http://schemas.openxmlformats.org/drawingml/2006/main">
              <a:ext uri="{FF2B5EF4-FFF2-40B4-BE49-F238E27FC236}">
                <a16:creationId xmlns:a16="http://schemas.microsoft.com/office/drawing/2014/main" id="{ED76FF96-8459-49C8-B958-9BD3DEF2FA34}"/>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7968FB17-6E17-4B52-A068-6BD068F848C5}"/>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Protect private fields and update related values together.</a:t>
            </a:r>
          </a:p>
        </p:txBody>
      </p:sp>
      <p:sp>
        <p:nvSpPr>
          <p:cNvPr id="7" name="text-6">
            <a:extLst xmlns:a="http://schemas.openxmlformats.org/drawingml/2006/main">
              <a:ext uri="{FF2B5EF4-FFF2-40B4-BE49-F238E27FC236}">
                <a16:creationId xmlns:a16="http://schemas.microsoft.com/office/drawing/2014/main" id="{A2EAAD1D-4603-466A-B97C-019F066A344B}"/>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259EA228-94F5-4FF6-B1C4-C2E4DA3FEFCC}"/>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Read a value</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through a getter.</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Edit through the scheduler.</a:t>
            </a:r>
          </a:p>
        </p:txBody>
      </p:sp>
      <p:sp>
        <p:nvSpPr>
          <p:cNvPr id="9" name="takeaway">
            <a:extLst xmlns:a="http://schemas.openxmlformats.org/drawingml/2006/main">
              <a:ext uri="{FF2B5EF4-FFF2-40B4-BE49-F238E27FC236}">
                <a16:creationId xmlns:a16="http://schemas.microsoft.com/office/drawing/2014/main" id="{D3D46124-5F26-4C54-BD84-F97D19651B4F}"/>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Gate checks happen before the scheduler changes the flight.</a:t>
            </a:r>
          </a:p>
        </p:txBody>
      </p:sp>
    </p:spTree>
    <p:extLst>
      <p:ext uri="{BB962C8B-B14F-4D97-AF65-F5344CB8AC3E}">
        <p14:creationId xmlns:p14="http://schemas.microsoft.com/office/powerpoint/2010/main" val="1535973732"/>
      </p:ext>
    </p:extLst>
  </p:cSld>
</p:sld>
</file>

<file path=ppt/slides/slide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0F5BB356-D0F7-4BD6-9F6C-33E564BE69B2}"/>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Scanner and console input</a:t>
            </a:r>
          </a:p>
        </p:txBody>
      </p:sp>
      <p:sp>
        <p:nvSpPr>
          <p:cNvPr id="2" name="source">
            <a:extLst xmlns:a="http://schemas.openxmlformats.org/drawingml/2006/main">
              <a:ext uri="{FF2B5EF4-FFF2-40B4-BE49-F238E27FC236}">
                <a16:creationId xmlns:a16="http://schemas.microsoft.com/office/drawing/2014/main" id="{28D88EB6-E0F5-4752-B5CA-F26DC8588D85}"/>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ConsoleInput.readText   Code excerpt</a:t>
            </a:r>
          </a:p>
        </p:txBody>
      </p:sp>
      <p:sp>
        <p:nvSpPr>
          <p:cNvPr id="3" name="page-number">
            <a:extLst xmlns:a="http://schemas.openxmlformats.org/drawingml/2006/main">
              <a:ext uri="{FF2B5EF4-FFF2-40B4-BE49-F238E27FC236}">
                <a16:creationId xmlns:a16="http://schemas.microsoft.com/office/drawing/2014/main" id="{E0F0BEE8-3ACD-45B7-AB7E-F59B1EAD9E31}"/>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08</a:t>
            </a:r>
          </a:p>
        </p:txBody>
      </p:sp>
      <p:sp>
        <p:nvSpPr>
          <p:cNvPr id="4" name="editable-code">
            <a:extLst xmlns:a="http://schemas.openxmlformats.org/drawingml/2006/main">
              <a:ext uri="{FF2B5EF4-FFF2-40B4-BE49-F238E27FC236}">
                <a16:creationId xmlns:a16="http://schemas.microsoft.com/office/drawing/2014/main" id="{165B9057-0550-47C6-A07B-33557A1FB6DD}"/>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private final Scanner scanner;</a:t>
            </a:r>
          </a:p>
          <a:p xmlns:a="http://schemas.openxmlformats.org/drawingml/2006/main">
            <a:r>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public String readText(String prompt)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System.out.print(prompt);</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if (!scanner.hasNextLine())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throw new NoSuchElementException(</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"End of console input.");</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return scanner.nextLine().trim();</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a:t>
            </a:r>
          </a:p>
        </p:txBody>
      </p:sp>
      <p:sp>
        <p:nvSpPr>
          <p:cNvPr id="5" name="text-4">
            <a:extLst xmlns:a="http://schemas.openxmlformats.org/drawingml/2006/main">
              <a:ext uri="{FF2B5EF4-FFF2-40B4-BE49-F238E27FC236}">
                <a16:creationId xmlns:a16="http://schemas.microsoft.com/office/drawing/2014/main" id="{907BBD8D-B25F-45C8-ACD7-201C55692891}"/>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3AB9DAF6-A41C-4E04-9E50-EB665755F80F}"/>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Read flight details and menu choices from the operator.</a:t>
            </a:r>
          </a:p>
        </p:txBody>
      </p:sp>
      <p:sp>
        <p:nvSpPr>
          <p:cNvPr id="7" name="text-6">
            <a:extLst xmlns:a="http://schemas.openxmlformats.org/drawingml/2006/main">
              <a:ext uri="{FF2B5EF4-FFF2-40B4-BE49-F238E27FC236}">
                <a16:creationId xmlns:a16="http://schemas.microsoft.com/office/drawing/2014/main" id="{F483BAE7-5129-437F-A5FE-06921B4C6BEB}"/>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BC2959D5-4EF7-467D-AC56-CC02DBACA826}"/>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Input:  6e101</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Trimmed: 6e101</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Normalized later: 6E101</a:t>
            </a:r>
          </a:p>
        </p:txBody>
      </p:sp>
      <p:sp>
        <p:nvSpPr>
          <p:cNvPr id="9" name="takeaway">
            <a:extLst xmlns:a="http://schemas.openxmlformats.org/drawingml/2006/main">
              <a:ext uri="{FF2B5EF4-FFF2-40B4-BE49-F238E27FC236}">
                <a16:creationId xmlns:a16="http://schemas.microsoft.com/office/drawing/2014/main" id="{325586F8-5AE4-4ECB-ACF5-3FEDB00E8CC4}"/>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Read a complete line, then parse the type the operation needs.</a:t>
            </a:r>
          </a:p>
        </p:txBody>
      </p:sp>
    </p:spTree>
    <p:extLst>
      <p:ext uri="{BB962C8B-B14F-4D97-AF65-F5344CB8AC3E}">
        <p14:creationId xmlns:p14="http://schemas.microsoft.com/office/powerpoint/2010/main" val="706109133"/>
      </p:ext>
    </p:extLst>
  </p:cSld>
</p:sld>
</file>

<file path=ppt/slides/slide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39498B1-8370-4947-A216-A2CA18700760}"/>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while loop and input validation</a:t>
            </a:r>
          </a:p>
        </p:txBody>
      </p:sp>
      <p:sp>
        <p:nvSpPr>
          <p:cNvPr id="2" name="source">
            <a:extLst xmlns:a="http://schemas.openxmlformats.org/drawingml/2006/main">
              <a:ext uri="{FF2B5EF4-FFF2-40B4-BE49-F238E27FC236}">
                <a16:creationId xmlns:a16="http://schemas.microsoft.com/office/drawing/2014/main" id="{C0CCF286-BDEA-4724-9C9A-6812FC94DB94}"/>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ConsoleInput.readInt   Code excerpt</a:t>
            </a:r>
          </a:p>
        </p:txBody>
      </p:sp>
      <p:sp>
        <p:nvSpPr>
          <p:cNvPr id="3" name="page-number">
            <a:extLst xmlns:a="http://schemas.openxmlformats.org/drawingml/2006/main">
              <a:ext uri="{FF2B5EF4-FFF2-40B4-BE49-F238E27FC236}">
                <a16:creationId xmlns:a16="http://schemas.microsoft.com/office/drawing/2014/main" id="{47DC4F5D-4260-4EE8-BEE7-1F622BD02724}"/>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09</a:t>
            </a:r>
          </a:p>
        </p:txBody>
      </p:sp>
      <p:sp>
        <p:nvSpPr>
          <p:cNvPr id="4" name="editable-code">
            <a:extLst xmlns:a="http://schemas.openxmlformats.org/drawingml/2006/main">
              <a:ext uri="{FF2B5EF4-FFF2-40B4-BE49-F238E27FC236}">
                <a16:creationId xmlns:a16="http://schemas.microsoft.com/office/drawing/2014/main" id="{B7615638-8389-46F8-BF34-D7F836EB89B3}"/>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while (true)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String text = readText(prompt);</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try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int value = Integer.parseInt(text);</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if (value &gt;= minimum &amp;&amp; value &lt;= maximum)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return value;</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System.out.println("Value out of range.");</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 catch (NumberFormatException exception)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System.out.println("Enter a whole number.");</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a:t>
            </a:r>
          </a:p>
        </p:txBody>
      </p:sp>
      <p:sp>
        <p:nvSpPr>
          <p:cNvPr id="5" name="text-4">
            <a:extLst xmlns:a="http://schemas.openxmlformats.org/drawingml/2006/main">
              <a:ext uri="{FF2B5EF4-FFF2-40B4-BE49-F238E27FC236}">
                <a16:creationId xmlns:a16="http://schemas.microsoft.com/office/drawing/2014/main" id="{D0B03036-62A0-4F01-A3C7-DB2F039616D0}"/>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A3009E68-3202-43DD-B6A9-C9A7EE710077}"/>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Retry a typing mistake without ending the program.</a:t>
            </a:r>
          </a:p>
        </p:txBody>
      </p:sp>
      <p:sp>
        <p:nvSpPr>
          <p:cNvPr id="7" name="text-6">
            <a:extLst xmlns:a="http://schemas.openxmlformats.org/drawingml/2006/main">
              <a:ext uri="{FF2B5EF4-FFF2-40B4-BE49-F238E27FC236}">
                <a16:creationId xmlns:a16="http://schemas.microsoft.com/office/drawing/2014/main" id="{32A057FF-F1DE-4DB7-A0B5-7DF3513164FE}"/>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48EE0C16-8B90-47DF-BE7A-FD0C34208B88}"/>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abc: ask again</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9: outside the menu</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1: accepted</a:t>
            </a:r>
          </a:p>
        </p:txBody>
      </p:sp>
      <p:sp>
        <p:nvSpPr>
          <p:cNvPr id="9" name="takeaway">
            <a:extLst xmlns:a="http://schemas.openxmlformats.org/drawingml/2006/main">
              <a:ext uri="{FF2B5EF4-FFF2-40B4-BE49-F238E27FC236}">
                <a16:creationId xmlns:a16="http://schemas.microsoft.com/office/drawing/2014/main" id="{C33106E7-86F5-4F75-8B9E-FD0172B0E796}"/>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A valid value returns from the loop. End-of-input also has a handler.</a:t>
            </a:r>
          </a:p>
        </p:txBody>
      </p:sp>
    </p:spTree>
    <p:extLst>
      <p:ext uri="{BB962C8B-B14F-4D97-AF65-F5344CB8AC3E}">
        <p14:creationId xmlns:p14="http://schemas.microsoft.com/office/powerpoint/2010/main" val="1093671776"/>
      </p:ext>
    </p:extLst>
  </p:cSld>
</p:sld>
</file>

<file path=ppt/slides/slide1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686DB71-EF27-436A-B2E1-D381B0C05A77}"/>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Strings and time arithmetic</a:t>
            </a:r>
          </a:p>
        </p:txBody>
      </p:sp>
      <p:sp>
        <p:nvSpPr>
          <p:cNvPr id="2" name="source">
            <a:extLst xmlns:a="http://schemas.openxmlformats.org/drawingml/2006/main">
              <a:ext uri="{FF2B5EF4-FFF2-40B4-BE49-F238E27FC236}">
                <a16:creationId xmlns:a16="http://schemas.microsoft.com/office/drawing/2014/main" id="{8457AF90-CDAC-46C7-9020-13F366D08EAF}"/>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Flight.parseTime and formatTime   Code excerpt</a:t>
            </a:r>
          </a:p>
        </p:txBody>
      </p:sp>
      <p:sp>
        <p:nvSpPr>
          <p:cNvPr id="3" name="page-number">
            <a:extLst xmlns:a="http://schemas.openxmlformats.org/drawingml/2006/main">
              <a:ext uri="{FF2B5EF4-FFF2-40B4-BE49-F238E27FC236}">
                <a16:creationId xmlns:a16="http://schemas.microsoft.com/office/drawing/2014/main" id="{2F5A19A7-73FA-47DC-A81C-FB3FDC64A84A}"/>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10</a:t>
            </a:r>
          </a:p>
        </p:txBody>
      </p:sp>
      <p:sp>
        <p:nvSpPr>
          <p:cNvPr id="4" name="editable-code">
            <a:extLst xmlns:a="http://schemas.openxmlformats.org/drawingml/2006/main">
              <a:ext uri="{FF2B5EF4-FFF2-40B4-BE49-F238E27FC236}">
                <a16:creationId xmlns:a16="http://schemas.microsoft.com/office/drawing/2014/main" id="{F70AD688-4FBA-496C-832E-7C74E45C74D7}"/>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int hour = Integer.parseInt(text.substring(0, 2));</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int minute = Integer.parseInt(text.substring(3, 5));</a:t>
            </a:r>
          </a:p>
          <a:p xmlns:a="http://schemas.openxmlformats.org/drawingml/2006/main">
            <a:r>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if (hour &gt; 23 || minute &gt; 59)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throw new IllegalArgumentException(</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"Invalid hour or minute.");</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a:t>
            </a:r>
          </a:p>
          <a:p xmlns:a="http://schemas.openxmlformats.org/drawingml/2006/main">
            <a:r>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int minutes = hour * 60 + minute;</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String result = String.format(Locale.ROOT,</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"%02d:%02d", minutes / 60, minutes % 60);</a:t>
            </a:r>
          </a:p>
        </p:txBody>
      </p:sp>
      <p:sp>
        <p:nvSpPr>
          <p:cNvPr id="5" name="text-4">
            <a:extLst xmlns:a="http://schemas.openxmlformats.org/drawingml/2006/main">
              <a:ext uri="{FF2B5EF4-FFF2-40B4-BE49-F238E27FC236}">
                <a16:creationId xmlns:a16="http://schemas.microsoft.com/office/drawing/2014/main" id="{FFAD63BE-E3EF-480E-8061-025603980268}"/>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5593BB39-A479-4994-A210-729160441811}"/>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Compare times as integers and display them as HH:mm.</a:t>
            </a:r>
          </a:p>
        </p:txBody>
      </p:sp>
      <p:sp>
        <p:nvSpPr>
          <p:cNvPr id="7" name="text-6">
            <a:extLst xmlns:a="http://schemas.openxmlformats.org/drawingml/2006/main">
              <a:ext uri="{FF2B5EF4-FFF2-40B4-BE49-F238E27FC236}">
                <a16:creationId xmlns:a16="http://schemas.microsoft.com/office/drawing/2014/main" id="{80C95532-A8D1-4BB3-AF42-1402F4842026}"/>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0D029B06-54FB-46B0-89F1-306027EAA353}"/>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09:30 = 570 minutes</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570 / 60 = 9</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570 % 60 = 30</a:t>
            </a:r>
          </a:p>
        </p:txBody>
      </p:sp>
      <p:sp>
        <p:nvSpPr>
          <p:cNvPr id="9" name="takeaway">
            <a:extLst xmlns:a="http://schemas.openxmlformats.org/drawingml/2006/main">
              <a:ext uri="{FF2B5EF4-FFF2-40B4-BE49-F238E27FC236}">
                <a16:creationId xmlns:a16="http://schemas.microsoft.com/office/drawing/2014/main" id="{19D1F90A-FBEE-4EFF-B0CC-E6E9388FF8E9}"/>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Minutes since midnight make delay calculations simple.</a:t>
            </a:r>
          </a:p>
        </p:txBody>
      </p:sp>
    </p:spTree>
    <p:extLst>
      <p:ext uri="{BB962C8B-B14F-4D97-AF65-F5344CB8AC3E}">
        <p14:creationId xmlns:p14="http://schemas.microsoft.com/office/powerpoint/2010/main" val="2130707495"/>
      </p:ext>
    </p:extLst>
  </p:cSld>
</p:sld>
</file>

<file path=ppt/slides/slide1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8E71D625-407A-40D3-BD8C-4F69AA8703ED}"/>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String operations and validation</a:t>
            </a:r>
          </a:p>
        </p:txBody>
      </p:sp>
      <p:sp>
        <p:nvSpPr>
          <p:cNvPr id="2" name="source">
            <a:extLst xmlns:a="http://schemas.openxmlformats.org/drawingml/2006/main">
              <a:ext uri="{FF2B5EF4-FFF2-40B4-BE49-F238E27FC236}">
                <a16:creationId xmlns:a16="http://schemas.microsoft.com/office/drawing/2014/main" id="{8E4ABAA0-8A0C-4CD0-8FAE-CB598288DFA9}"/>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Flight.cleanText and normalizeGate   Code excerpt</a:t>
            </a:r>
          </a:p>
        </p:txBody>
      </p:sp>
      <p:sp>
        <p:nvSpPr>
          <p:cNvPr id="3" name="page-number">
            <a:extLst xmlns:a="http://schemas.openxmlformats.org/drawingml/2006/main">
              <a:ext uri="{FF2B5EF4-FFF2-40B4-BE49-F238E27FC236}">
                <a16:creationId xmlns:a16="http://schemas.microsoft.com/office/drawing/2014/main" id="{D9965ADA-F347-4DA2-B7C0-5DD0D0805213}"/>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11</a:t>
            </a:r>
          </a:p>
        </p:txBody>
      </p:sp>
      <p:sp>
        <p:nvSpPr>
          <p:cNvPr id="4" name="editable-code">
            <a:extLst xmlns:a="http://schemas.openxmlformats.org/drawingml/2006/main">
              <a:ext uri="{FF2B5EF4-FFF2-40B4-BE49-F238E27FC236}">
                <a16:creationId xmlns:a16="http://schemas.microsoft.com/office/drawing/2014/main" id="{A49465CE-37E7-44FF-982F-1878E9C7A62F}"/>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String text = value.trim();</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if (text.isEmpty() || text.length() &gt; 40</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 text.contains("|"))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throw new IllegalArgumentException(</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"Invalid text field.");</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a:t>
            </a:r>
          </a:p>
          <a:p xmlns:a="http://schemas.openxmlformats.org/drawingml/2006/main">
            <a:r>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for (int i = 0; i &lt; text.length(); i++)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if (Character.isISOControl(text.charAt(i)))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throw new IllegalArgumentException(</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"Control character found.");</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String normalized = text.toUpperCase(Locale.ROOT);</a:t>
            </a:r>
          </a:p>
        </p:txBody>
      </p:sp>
      <p:sp>
        <p:nvSpPr>
          <p:cNvPr id="5" name="text-4">
            <a:extLst xmlns:a="http://schemas.openxmlformats.org/drawingml/2006/main">
              <a:ext uri="{FF2B5EF4-FFF2-40B4-BE49-F238E27FC236}">
                <a16:creationId xmlns:a16="http://schemas.microsoft.com/office/drawing/2014/main" id="{E2CAB525-1BAD-4E2B-BE50-1EB39AF8BBBB}"/>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923CBB5A-4273-4B6F-8F4B-7C1035BD4919}"/>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Reject empty fields and unsafe text before storage.</a:t>
            </a:r>
          </a:p>
        </p:txBody>
      </p:sp>
      <p:sp>
        <p:nvSpPr>
          <p:cNvPr id="7" name="text-6">
            <a:extLst xmlns:a="http://schemas.openxmlformats.org/drawingml/2006/main">
              <a:ext uri="{FF2B5EF4-FFF2-40B4-BE49-F238E27FC236}">
                <a16:creationId xmlns:a16="http://schemas.microsoft.com/office/drawing/2014/main" id="{7A00708E-2EA2-48AD-9FB2-CDB111CF4066}"/>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9174ABB7-8FDF-492A-8CA4-53E120E354F2}"/>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a1 becomes A1.</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Text with a pipe</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cannot enter a record.</a:t>
            </a:r>
          </a:p>
        </p:txBody>
      </p:sp>
      <p:sp>
        <p:nvSpPr>
          <p:cNvPr id="9" name="takeaway">
            <a:extLst xmlns:a="http://schemas.openxmlformats.org/drawingml/2006/main">
              <a:ext uri="{FF2B5EF4-FFF2-40B4-BE49-F238E27FC236}">
                <a16:creationId xmlns:a16="http://schemas.microsoft.com/office/drawing/2014/main" id="{BECC0F72-48CB-48B7-AB01-75D04A2C58B3}"/>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equals compares text values. Double equals checks object identity.</a:t>
            </a:r>
          </a:p>
        </p:txBody>
      </p:sp>
    </p:spTree>
    <p:extLst>
      <p:ext uri="{BB962C8B-B14F-4D97-AF65-F5344CB8AC3E}">
        <p14:creationId xmlns:p14="http://schemas.microsoft.com/office/powerpoint/2010/main" val="82183029"/>
      </p:ext>
    </p:extLst>
  </p:cSld>
</p:sld>
</file>

<file path=ppt/slides/slide1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4C393B79-0059-4ADF-B7D0-15FB57A68F24}"/>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One-dimensional array and insertion</a:t>
            </a:r>
          </a:p>
        </p:txBody>
      </p:sp>
      <p:sp>
        <p:nvSpPr>
          <p:cNvPr id="2" name="source">
            <a:extLst xmlns:a="http://schemas.openxmlformats.org/drawingml/2006/main">
              <a:ext uri="{FF2B5EF4-FFF2-40B4-BE49-F238E27FC236}">
                <a16:creationId xmlns:a16="http://schemas.microsoft.com/office/drawing/2014/main" id="{C66F1C9F-41AE-42E2-A558-D5907FCB26A4}"/>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FlightScheduler fields and addFlight   Code excerpt</a:t>
            </a:r>
          </a:p>
        </p:txBody>
      </p:sp>
      <p:sp>
        <p:nvSpPr>
          <p:cNvPr id="3" name="page-number">
            <a:extLst xmlns:a="http://schemas.openxmlformats.org/drawingml/2006/main">
              <a:ext uri="{FF2B5EF4-FFF2-40B4-BE49-F238E27FC236}">
                <a16:creationId xmlns:a16="http://schemas.microsoft.com/office/drawing/2014/main" id="{9AEE0184-948D-429F-B758-A606410EBFE6}"/>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12</a:t>
            </a:r>
          </a:p>
        </p:txBody>
      </p:sp>
      <p:sp>
        <p:nvSpPr>
          <p:cNvPr id="4" name="editable-code">
            <a:extLst xmlns:a="http://schemas.openxmlformats.org/drawingml/2006/main">
              <a:ext uri="{FF2B5EF4-FFF2-40B4-BE49-F238E27FC236}">
                <a16:creationId xmlns:a16="http://schemas.microsoft.com/office/drawing/2014/main" id="{1C404A3C-9B2D-4DAA-B4F3-BE9AF7D2580C}"/>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private final Flight[] flights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new Flight[MAX_FLIGHTS];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private int count = 0;</a:t>
            </a:r>
          </a:p>
          <a:p xmlns:a="http://schemas.openxmlformats.org/drawingml/2006/main">
            <a:r>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if (count == MAX_FLIGHTS)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throw new IllegalArgumentException("Board is full.");</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a:t>
            </a:r>
          </a:p>
          <a:p xmlns:a="http://schemas.openxmlformats.org/drawingml/2006/main">
            <a:r>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Duplicate and gate checks run before insertion.</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flights[count] = flight;</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count++;</a:t>
            </a:r>
          </a:p>
        </p:txBody>
      </p:sp>
      <p:sp>
        <p:nvSpPr>
          <p:cNvPr id="5" name="text-4">
            <a:extLst xmlns:a="http://schemas.openxmlformats.org/drawingml/2006/main">
              <a:ext uri="{FF2B5EF4-FFF2-40B4-BE49-F238E27FC236}">
                <a16:creationId xmlns:a16="http://schemas.microsoft.com/office/drawing/2014/main" id="{7D8B8348-94DA-4606-BA0E-693769578FF7}"/>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2BBC7F9B-84A4-4528-AF81-700AB2851495}"/>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Store a small board with a clear maximum capacity.</a:t>
            </a:r>
          </a:p>
        </p:txBody>
      </p:sp>
      <p:sp>
        <p:nvSpPr>
          <p:cNvPr id="7" name="text-6">
            <a:extLst xmlns:a="http://schemas.openxmlformats.org/drawingml/2006/main">
              <a:ext uri="{FF2B5EF4-FFF2-40B4-BE49-F238E27FC236}">
                <a16:creationId xmlns:a16="http://schemas.microsoft.com/office/drawing/2014/main" id="{168A564F-8B0C-47A7-954F-DC470F002E9A}"/>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5DA6CE53-5319-4E09-98FB-55CA284BEA58}"/>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count = 3</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Occupied slots: 0, 1, 2</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Next slot: 3</a:t>
            </a:r>
          </a:p>
        </p:txBody>
      </p:sp>
      <p:sp>
        <p:nvSpPr>
          <p:cNvPr id="9" name="takeaway">
            <a:extLst xmlns:a="http://schemas.openxmlformats.org/drawingml/2006/main">
              <a:ext uri="{FF2B5EF4-FFF2-40B4-BE49-F238E27FC236}">
                <a16:creationId xmlns:a16="http://schemas.microsoft.com/office/drawing/2014/main" id="{6FB74D2C-C808-40DD-A4E0-86C73A6F57B4}"/>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Only positions before count contain stored records.</a:t>
            </a:r>
          </a:p>
        </p:txBody>
      </p:sp>
    </p:spTree>
    <p:extLst>
      <p:ext uri="{BB962C8B-B14F-4D97-AF65-F5344CB8AC3E}">
        <p14:creationId xmlns:p14="http://schemas.microsoft.com/office/powerpoint/2010/main" val="2112849419"/>
      </p:ext>
    </p:extLst>
  </p:cSld>
</p:sld>
</file>

<file path=ppt/slides/slide1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7C616830-A7E3-4DB5-B0E5-FAFAF3A837B7}"/>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for loop and linear search</a:t>
            </a:r>
          </a:p>
        </p:txBody>
      </p:sp>
      <p:sp>
        <p:nvSpPr>
          <p:cNvPr id="2" name="source">
            <a:extLst xmlns:a="http://schemas.openxmlformats.org/drawingml/2006/main">
              <a:ext uri="{FF2B5EF4-FFF2-40B4-BE49-F238E27FC236}">
                <a16:creationId xmlns:a16="http://schemas.microsoft.com/office/drawing/2014/main" id="{3439017B-D488-48B3-89FE-46EED35842EB}"/>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FlightScheduler.findFlight   Code excerpt</a:t>
            </a:r>
          </a:p>
        </p:txBody>
      </p:sp>
      <p:sp>
        <p:nvSpPr>
          <p:cNvPr id="3" name="page-number">
            <a:extLst xmlns:a="http://schemas.openxmlformats.org/drawingml/2006/main">
              <a:ext uri="{FF2B5EF4-FFF2-40B4-BE49-F238E27FC236}">
                <a16:creationId xmlns:a16="http://schemas.microsoft.com/office/drawing/2014/main" id="{D63D4F2C-AA28-4EA0-9FAE-E23341942FE8}"/>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13</a:t>
            </a:r>
          </a:p>
        </p:txBody>
      </p:sp>
      <p:sp>
        <p:nvSpPr>
          <p:cNvPr id="4" name="editable-code">
            <a:extLst xmlns:a="http://schemas.openxmlformats.org/drawingml/2006/main">
              <a:ext uri="{FF2B5EF4-FFF2-40B4-BE49-F238E27FC236}">
                <a16:creationId xmlns:a16="http://schemas.microsoft.com/office/drawing/2014/main" id="{AB8D9CCF-34E7-4766-9131-F8C2D70499FB}"/>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if (number == null) return null;</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String query = number.trim().toUpperCase(Locale.ROOT);</a:t>
            </a:r>
          </a:p>
          <a:p xmlns:a="http://schemas.openxmlformats.org/drawingml/2006/main">
            <a:r>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for (int i = 0; i &lt; count; i++)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if (flights[i].getNumber().equals(query))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return flights[i];</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return null;</a:t>
            </a:r>
          </a:p>
        </p:txBody>
      </p:sp>
      <p:sp>
        <p:nvSpPr>
          <p:cNvPr id="5" name="text-4">
            <a:extLst xmlns:a="http://schemas.openxmlformats.org/drawingml/2006/main">
              <a:ext uri="{FF2B5EF4-FFF2-40B4-BE49-F238E27FC236}">
                <a16:creationId xmlns:a16="http://schemas.microsoft.com/office/drawing/2014/main" id="{4B32E78E-C361-438F-9131-17B5B11BE97D}"/>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E98F82D1-1407-4C12-98A9-435F6E63D25C}"/>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Locate a record by its unique flight number.</a:t>
            </a:r>
          </a:p>
        </p:txBody>
      </p:sp>
      <p:sp>
        <p:nvSpPr>
          <p:cNvPr id="7" name="text-6">
            <a:extLst xmlns:a="http://schemas.openxmlformats.org/drawingml/2006/main">
              <a:ext uri="{FF2B5EF4-FFF2-40B4-BE49-F238E27FC236}">
                <a16:creationId xmlns:a16="http://schemas.microsoft.com/office/drawing/2014/main" id="{1B8E1F8A-2801-49CC-9E29-791FC78FF224}"/>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C8B39A0F-371A-412B-8E42-3D1E602D80AD}"/>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Search: 6e101</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Key: 6E101</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Result: Flight or null</a:t>
            </a:r>
          </a:p>
        </p:txBody>
      </p:sp>
      <p:sp>
        <p:nvSpPr>
          <p:cNvPr id="9" name="takeaway">
            <a:extLst xmlns:a="http://schemas.openxmlformats.org/drawingml/2006/main">
              <a:ext uri="{FF2B5EF4-FFF2-40B4-BE49-F238E27FC236}">
                <a16:creationId xmlns:a16="http://schemas.microsoft.com/office/drawing/2014/main" id="{2BC32FCE-06F6-40CE-BB80-2C016B9E5AA5}"/>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Linear search takes O(n) time and is sufficient for 200 records.</a:t>
            </a:r>
          </a:p>
        </p:txBody>
      </p:sp>
    </p:spTree>
    <p:extLst>
      <p:ext uri="{BB962C8B-B14F-4D97-AF65-F5344CB8AC3E}">
        <p14:creationId xmlns:p14="http://schemas.microsoft.com/office/powerpoint/2010/main" val="1738141244"/>
      </p:ext>
    </p:extLst>
  </p:cSld>
</p:sld>
</file>

<file path=ppt/slides/slide1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E1C223B8-2B0B-480E-AD63-A23AD94E36F5}"/>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Methods, parameters and return values</a:t>
            </a:r>
          </a:p>
        </p:txBody>
      </p:sp>
      <p:sp>
        <p:nvSpPr>
          <p:cNvPr id="2" name="source">
            <a:extLst xmlns:a="http://schemas.openxmlformats.org/drawingml/2006/main">
              <a:ext uri="{FF2B5EF4-FFF2-40B4-BE49-F238E27FC236}">
                <a16:creationId xmlns:a16="http://schemas.microsoft.com/office/drawing/2014/main" id="{4694E53B-D44C-4C16-98A5-CD644B918590}"/>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FlightScheduler.requireFlight   Code excerpt</a:t>
            </a:r>
          </a:p>
        </p:txBody>
      </p:sp>
      <p:sp>
        <p:nvSpPr>
          <p:cNvPr id="3" name="page-number">
            <a:extLst xmlns:a="http://schemas.openxmlformats.org/drawingml/2006/main">
              <a:ext uri="{FF2B5EF4-FFF2-40B4-BE49-F238E27FC236}">
                <a16:creationId xmlns:a16="http://schemas.microsoft.com/office/drawing/2014/main" id="{4E499AF4-4659-4DEC-BDFA-E1D062201E2B}"/>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14</a:t>
            </a:r>
          </a:p>
        </p:txBody>
      </p:sp>
      <p:sp>
        <p:nvSpPr>
          <p:cNvPr id="4" name="editable-code">
            <a:extLst xmlns:a="http://schemas.openxmlformats.org/drawingml/2006/main">
              <a:ext uri="{FF2B5EF4-FFF2-40B4-BE49-F238E27FC236}">
                <a16:creationId xmlns:a16="http://schemas.microsoft.com/office/drawing/2014/main" id="{DAF172C3-943E-4306-ADB9-066B44781A34}"/>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private Flight requireFlight(String number)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Flight found = findFlight(number);</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if (found == null)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throw new IllegalArgumentException(</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"Flight not found: " + number);</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return found;</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a:t>
            </a:r>
          </a:p>
        </p:txBody>
      </p:sp>
      <p:sp>
        <p:nvSpPr>
          <p:cNvPr id="5" name="text-4">
            <a:extLst xmlns:a="http://schemas.openxmlformats.org/drawingml/2006/main">
              <a:ext uri="{FF2B5EF4-FFF2-40B4-BE49-F238E27FC236}">
                <a16:creationId xmlns:a16="http://schemas.microsoft.com/office/drawing/2014/main" id="{14B68F91-5F69-4722-9D38-65F4AA9982BC}"/>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7CD41F67-F17B-49D3-844D-6CEF915AD383}"/>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Reuse lookup and report a precise missing-record error.</a:t>
            </a:r>
          </a:p>
        </p:txBody>
      </p:sp>
      <p:sp>
        <p:nvSpPr>
          <p:cNvPr id="7" name="text-6">
            <a:extLst xmlns:a="http://schemas.openxmlformats.org/drawingml/2006/main">
              <a:ext uri="{FF2B5EF4-FFF2-40B4-BE49-F238E27FC236}">
                <a16:creationId xmlns:a16="http://schemas.microsoft.com/office/drawing/2014/main" id="{B1442261-ECBA-4814-9AA0-FC4C35A85DCB}"/>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994D3276-C0B0-46E7-9AA9-3F9870A61BF1}"/>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Parameter: flight ID</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Return: Flight</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Failure: exception</a:t>
            </a:r>
          </a:p>
        </p:txBody>
      </p:sp>
      <p:sp>
        <p:nvSpPr>
          <p:cNvPr id="9" name="takeaway">
            <a:extLst xmlns:a="http://schemas.openxmlformats.org/drawingml/2006/main">
              <a:ext uri="{FF2B5EF4-FFF2-40B4-BE49-F238E27FC236}">
                <a16:creationId xmlns:a16="http://schemas.microsoft.com/office/drawing/2014/main" id="{34519ADE-EF09-4F56-94F8-4488941D7336}"/>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Java passes values. An object argument passes a copied reference value.</a:t>
            </a:r>
          </a:p>
        </p:txBody>
      </p:sp>
    </p:spTree>
    <p:extLst>
      <p:ext uri="{BB962C8B-B14F-4D97-AF65-F5344CB8AC3E}">
        <p14:creationId xmlns:p14="http://schemas.microsoft.com/office/powerpoint/2010/main" val="851752785"/>
      </p:ext>
    </p:extLst>
  </p:cSld>
</p:sld>
</file>

<file path=ppt/slides/slide1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FEF0ED4F-BB4A-4073-A74E-3B6C60113C5C}"/>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Gate-clash conditions and continue</a:t>
            </a:r>
          </a:p>
        </p:txBody>
      </p:sp>
      <p:sp>
        <p:nvSpPr>
          <p:cNvPr id="2" name="source">
            <a:extLst xmlns:a="http://schemas.openxmlformats.org/drawingml/2006/main">
              <a:ext uri="{FF2B5EF4-FFF2-40B4-BE49-F238E27FC236}">
                <a16:creationId xmlns:a16="http://schemas.microsoft.com/office/drawing/2014/main" id="{E6CC367E-19C1-4807-B017-E4E3F423EEE1}"/>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FlightScheduler.checkGate   Code excerpt</a:t>
            </a:r>
          </a:p>
        </p:txBody>
      </p:sp>
      <p:sp>
        <p:nvSpPr>
          <p:cNvPr id="3" name="page-number">
            <a:extLst xmlns:a="http://schemas.openxmlformats.org/drawingml/2006/main">
              <a:ext uri="{FF2B5EF4-FFF2-40B4-BE49-F238E27FC236}">
                <a16:creationId xmlns:a16="http://schemas.microsoft.com/office/drawing/2014/main" id="{F0B689DA-65D4-474A-BEBC-A4E694168675}"/>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15</a:t>
            </a:r>
          </a:p>
        </p:txBody>
      </p:sp>
      <p:sp>
        <p:nvSpPr>
          <p:cNvPr id="4" name="text-3">
            <a:extLst xmlns:a="http://schemas.openxmlformats.org/drawingml/2006/main">
              <a:ext uri="{FF2B5EF4-FFF2-40B4-BE49-F238E27FC236}">
                <a16:creationId xmlns:a16="http://schemas.microsoft.com/office/drawing/2014/main" id="{5BC7B7FF-A3F6-430E-9452-F10496A1270A}"/>
              </a:ext>
            </a:extLst>
          </p:cNvPr>
          <p:cNvSpPr>
            <a:spLocks xmlns:a="http://schemas.openxmlformats.org/drawingml/2006/main" noGrp="1"/>
          </p:cNvSpPr>
          <p:nvPr/>
        </p:nvSpPr>
        <p:spPr>
          <a:xfrm xmlns:a="http://schemas.openxmlformats.org/drawingml/2006/main">
            <a:off x="609600" y="1447800"/>
            <a:ext cx="79819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0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if (!other.isActive()</a:t>
            </a:r>
          </a:p>
          <a:p xmlns:a="http://schemas.openxmlformats.org/drawingml/2006/main">
            <a:pPr algn="l">
              <a:lnSpc>
                <a:spcPct val="110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 other.getNumber().equals(ignoredNumber)) {</a:t>
            </a:r>
          </a:p>
          <a:p xmlns:a="http://schemas.openxmlformats.org/drawingml/2006/main">
            <a:pPr algn="l">
              <a:lnSpc>
                <a:spcPct val="110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continue;</a:t>
            </a:r>
          </a:p>
          <a:p xmlns:a="http://schemas.openxmlformats.org/drawingml/2006/main">
            <a:pPr algn="l">
              <a:lnSpc>
                <a:spcPct val="110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a:t>
            </a:r>
          </a:p>
          <a:p xmlns:a="http://schemas.openxmlformats.org/drawingml/2006/main">
            <a:pPr algn="l">
              <a:lnSpc>
                <a:spcPct val="110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int difference = expected - other.getExpectedMinutes();</a:t>
            </a:r>
          </a:p>
          <a:p xmlns:a="http://schemas.openxmlformats.org/drawingml/2006/main">
            <a:pPr algn="l">
              <a:lnSpc>
                <a:spcPct val="110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if (other.getGate().equals(gate)</a:t>
            </a:r>
          </a:p>
          <a:p xmlns:a="http://schemas.openxmlformats.org/drawingml/2006/main">
            <a:pPr algn="l">
              <a:lnSpc>
                <a:spcPct val="110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&amp;&amp; difference &gt; -30 &amp;&amp; difference &lt; 30) {</a:t>
            </a:r>
          </a:p>
          <a:p xmlns:a="http://schemas.openxmlformats.org/drawingml/2006/main">
            <a:pPr algn="l">
              <a:lnSpc>
                <a:spcPct val="110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throw new IllegalArgumentException("Gate clash.");</a:t>
            </a:r>
          </a:p>
          <a:p xmlns:a="http://schemas.openxmlformats.org/drawingml/2006/main">
            <a:pPr algn="l">
              <a:lnSpc>
                <a:spcPct val="110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a:t>
            </a:r>
          </a:p>
        </p:txBody>
      </p:sp>
      <p:sp>
        <p:nvSpPr>
          <p:cNvPr id="5" name="text-4">
            <a:extLst xmlns:a="http://schemas.openxmlformats.org/drawingml/2006/main">
              <a:ext uri="{FF2B5EF4-FFF2-40B4-BE49-F238E27FC236}">
                <a16:creationId xmlns:a16="http://schemas.microsoft.com/office/drawing/2014/main" id="{F5D3BCC9-8446-4836-8B0E-E8496267DBB5}"/>
              </a:ext>
            </a:extLst>
          </p:cNvPr>
          <p:cNvSpPr>
            <a:spLocks xmlns:a="http://schemas.openxmlformats.org/drawingml/2006/main" noGrp="1"/>
          </p:cNvSpPr>
          <p:nvPr/>
        </p:nvSpPr>
        <p:spPr>
          <a:xfrm xmlns:a="http://schemas.openxmlformats.org/drawingml/2006/main">
            <a:off x="9058275" y="146685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text-5">
            <a:extLst xmlns:a="http://schemas.openxmlformats.org/drawingml/2006/main">
              <a:ext uri="{FF2B5EF4-FFF2-40B4-BE49-F238E27FC236}">
                <a16:creationId xmlns:a16="http://schemas.microsoft.com/office/drawing/2014/main" id="{BC89B45C-04E9-484F-8A05-F3E6D8F4563D}"/>
              </a:ext>
            </a:extLst>
          </p:cNvPr>
          <p:cNvSpPr>
            <a:spLocks xmlns:a="http://schemas.openxmlformats.org/drawingml/2006/main" noGrp="1"/>
          </p:cNvSpPr>
          <p:nvPr/>
        </p:nvSpPr>
        <p:spPr>
          <a:xfrm xmlns:a="http://schemas.openxmlformats.org/drawingml/2006/main">
            <a:off x="9058275" y="1924050"/>
            <a:ext cx="25050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Compare only active records at the same gate.</a:t>
            </a:r>
          </a:p>
        </p:txBody>
      </p:sp>
      <p:graphicFrame>
        <p:nvGraphicFramePr>
          <p:cNvPr id="15" name=""/>
          <p:cNvGraphicFramePr/>
          <p:nvPr/>
        </p:nvGraphicFramePr>
        <p:xfrm>
          <a:off xmlns:a="http://schemas.openxmlformats.org/drawingml/2006/main" x="609600" y="4191000"/>
          <a:ext xmlns:a="http://schemas.openxmlformats.org/drawingml/2006/main" cx="10972800" cy="1657350"/>
        </p:xfrm>
        <a:graphic xmlns:a="http://schemas.openxmlformats.org/drawingml/2006/main">
          <a:graphicData uri="http://schemas.openxmlformats.org/drawingml/2006/table">
            <a:tbl>
              <a:tblPr firstRow="1" bandRow="0"/>
              <a:tblGrid>
                <a:gridCol w="2667000"/>
                <a:gridCol w="2095500"/>
                <a:gridCol w="3924300"/>
                <a:gridCol w="2286000"/>
              </a:tblGrid>
              <a:tr h="414338">
                <a:tc>
                  <a:txBody>
                    <a:bodyPr wrap="square">
                      <a:noAutofit/>
                    </a:bodyPr>
                    <a:lstStyle/>
                    <a:p>
                      <a:pPr algn="l"/>
                      <a:r>
                        <a:rPr sz="1650" b="1">
                          <a:solidFill>
                            <a:srgbClr val="FFFFFF"/>
                          </a:solidFill>
                          <a:latin typeface="Arial"/>
                          <a:ea typeface="Arial"/>
                          <a:cs typeface="Arial"/>
                        </a:rPr>
                        <a:t>Delay for 6E101</a:t>
                      </a:r>
                    </a:p>
                  </a:txBody>
                  <a:tcPr marL="114300" marR="114300" marT="66675" marB="66675" anchor="ctr">
                    <a:solidFill>
                      <a:srgbClr val="052035"/>
                    </a:solidFill>
                  </a:tcPr>
                </a:tc>
                <a:tc>
                  <a:txBody>
                    <a:bodyPr wrap="square">
                      <a:noAutofit/>
                    </a:bodyPr>
                    <a:lstStyle/>
                    <a:p>
                      <a:pPr algn="l"/>
                      <a:r>
                        <a:rPr sz="1650" b="1">
                          <a:solidFill>
                            <a:srgbClr val="FFFFFF"/>
                          </a:solidFill>
                          <a:latin typeface="Arial"/>
                          <a:ea typeface="Arial"/>
                          <a:cs typeface="Arial"/>
                        </a:rPr>
                        <a:t>Proposed time</a:t>
                      </a:r>
                    </a:p>
                  </a:txBody>
                  <a:tcPr marL="114300" marR="114300" marT="66675" marB="66675" anchor="ctr">
                    <a:solidFill>
                      <a:srgbClr val="052035"/>
                    </a:solidFill>
                  </a:tcPr>
                </a:tc>
                <a:tc>
                  <a:txBody>
                    <a:bodyPr wrap="square">
                      <a:noAutofit/>
                    </a:bodyPr>
                    <a:lstStyle/>
                    <a:p>
                      <a:pPr algn="l"/>
                      <a:r>
                        <a:rPr sz="1650" b="1">
                          <a:solidFill>
                            <a:srgbClr val="FFFFFF"/>
                          </a:solidFill>
                          <a:latin typeface="Arial"/>
                          <a:ea typeface="Arial"/>
                          <a:cs typeface="Arial"/>
                        </a:rPr>
                        <a:t>Gap to AI202 at 09:45</a:t>
                      </a:r>
                    </a:p>
                  </a:txBody>
                  <a:tcPr marL="114300" marR="114300" marT="66675" marB="66675" anchor="ctr">
                    <a:solidFill>
                      <a:srgbClr val="052035"/>
                    </a:solidFill>
                  </a:tcPr>
                </a:tc>
                <a:tc>
                  <a:txBody>
                    <a:bodyPr wrap="square">
                      <a:noAutofit/>
                    </a:bodyPr>
                    <a:lstStyle/>
                    <a:p>
                      <a:pPr algn="l"/>
                      <a:r>
                        <a:rPr sz="1650" b="1">
                          <a:solidFill>
                            <a:srgbClr val="FFFFFF"/>
                          </a:solidFill>
                          <a:latin typeface="Arial"/>
                          <a:ea typeface="Arial"/>
                          <a:cs typeface="Arial"/>
                        </a:rPr>
                        <a:t>Decision</a:t>
                      </a:r>
                    </a:p>
                  </a:txBody>
                  <a:tcPr marL="114300" marR="114300" marT="66675" marB="66675" anchor="ctr">
                    <a:solidFill>
                      <a:srgbClr val="052035"/>
                    </a:solidFill>
                  </a:tcPr>
                </a:tc>
              </a:tr>
              <a:tr h="414338">
                <a:tc>
                  <a:txBody>
                    <a:bodyPr wrap="square">
                      <a:noAutofit/>
                    </a:bodyPr>
                    <a:lstStyle/>
                    <a:p>
                      <a:pPr algn="l"/>
                      <a:r>
                        <a:rPr sz="1650" b="0">
                          <a:solidFill>
                            <a:srgbClr val="132A3C"/>
                          </a:solidFill>
                          <a:latin typeface="Arial"/>
                          <a:ea typeface="Arial"/>
                          <a:cs typeface="Arial"/>
                        </a:rPr>
                        <a:t>0 minutes</a:t>
                      </a:r>
                    </a:p>
                  </a:txBody>
                  <a:tcPr marL="114300" marR="114300" marT="66675" marB="66675" anchor="ctr">
                    <a:solidFill>
                      <a:srgbClr val="FFFFFF"/>
                    </a:solidFill>
                  </a:tcPr>
                </a:tc>
                <a:tc>
                  <a:txBody>
                    <a:bodyPr wrap="square">
                      <a:noAutofit/>
                    </a:bodyPr>
                    <a:lstStyle/>
                    <a:p>
                      <a:pPr algn="l"/>
                      <a:r>
                        <a:rPr sz="1650" b="0">
                          <a:solidFill>
                            <a:srgbClr val="132A3C"/>
                          </a:solidFill>
                          <a:latin typeface="Arial"/>
                          <a:ea typeface="Arial"/>
                          <a:cs typeface="Arial"/>
                        </a:rPr>
                        <a:t>09:00</a:t>
                      </a:r>
                    </a:p>
                  </a:txBody>
                  <a:tcPr marL="114300" marR="114300" marT="66675" marB="66675" anchor="ctr">
                    <a:solidFill>
                      <a:srgbClr val="FFFFFF"/>
                    </a:solidFill>
                  </a:tcPr>
                </a:tc>
                <a:tc>
                  <a:txBody>
                    <a:bodyPr wrap="square">
                      <a:noAutofit/>
                    </a:bodyPr>
                    <a:lstStyle/>
                    <a:p>
                      <a:pPr algn="l"/>
                      <a:r>
                        <a:rPr sz="1650" b="0">
                          <a:solidFill>
                            <a:srgbClr val="132A3C"/>
                          </a:solidFill>
                          <a:latin typeface="Arial"/>
                          <a:ea typeface="Arial"/>
                          <a:cs typeface="Arial"/>
                        </a:rPr>
                        <a:t>45 minutes</a:t>
                      </a:r>
                    </a:p>
                  </a:txBody>
                  <a:tcPr marL="114300" marR="114300" marT="66675" marB="66675" anchor="ctr">
                    <a:solidFill>
                      <a:srgbClr val="FFFFFF"/>
                    </a:solidFill>
                  </a:tcPr>
                </a:tc>
                <a:tc>
                  <a:txBody>
                    <a:bodyPr wrap="square">
                      <a:noAutofit/>
                    </a:bodyPr>
                    <a:lstStyle/>
                    <a:p>
                      <a:pPr algn="l"/>
                      <a:r>
                        <a:rPr sz="1650" b="0">
                          <a:solidFill>
                            <a:srgbClr val="132A3C"/>
                          </a:solidFill>
                          <a:latin typeface="Arial"/>
                          <a:ea typeface="Arial"/>
                          <a:cs typeface="Arial"/>
                        </a:rPr>
                        <a:t>Accept</a:t>
                      </a:r>
                    </a:p>
                  </a:txBody>
                  <a:tcPr marL="114300" marR="114300" marT="66675" marB="66675" anchor="ctr">
                    <a:solidFill>
                      <a:srgbClr val="FFFFFF"/>
                    </a:solidFill>
                  </a:tcPr>
                </a:tc>
              </a:tr>
              <a:tr h="414338">
                <a:tc>
                  <a:txBody>
                    <a:bodyPr wrap="square">
                      <a:noAutofit/>
                    </a:bodyPr>
                    <a:lstStyle/>
                    <a:p>
                      <a:pPr algn="l"/>
                      <a:r>
                        <a:rPr sz="1650" b="0">
                          <a:solidFill>
                            <a:srgbClr val="132A3C"/>
                          </a:solidFill>
                          <a:latin typeface="Arial"/>
                          <a:ea typeface="Arial"/>
                          <a:cs typeface="Arial"/>
                        </a:rPr>
                        <a:t>30 minutes</a:t>
                      </a:r>
                    </a:p>
                  </a:txBody>
                  <a:tcPr marL="114300" marR="114300" marT="66675" marB="66675" anchor="ctr">
                    <a:solidFill>
                      <a:srgbClr val="EDF3F8"/>
                    </a:solidFill>
                  </a:tcPr>
                </a:tc>
                <a:tc>
                  <a:txBody>
                    <a:bodyPr wrap="square">
                      <a:noAutofit/>
                    </a:bodyPr>
                    <a:lstStyle/>
                    <a:p>
                      <a:pPr algn="l"/>
                      <a:r>
                        <a:rPr sz="1650" b="0">
                          <a:solidFill>
                            <a:srgbClr val="132A3C"/>
                          </a:solidFill>
                          <a:latin typeface="Arial"/>
                          <a:ea typeface="Arial"/>
                          <a:cs typeface="Arial"/>
                        </a:rPr>
                        <a:t>09:30</a:t>
                      </a:r>
                    </a:p>
                  </a:txBody>
                  <a:tcPr marL="114300" marR="114300" marT="66675" marB="66675" anchor="ctr">
                    <a:solidFill>
                      <a:srgbClr val="EDF3F8"/>
                    </a:solidFill>
                  </a:tcPr>
                </a:tc>
                <a:tc>
                  <a:txBody>
                    <a:bodyPr wrap="square">
                      <a:noAutofit/>
                    </a:bodyPr>
                    <a:lstStyle/>
                    <a:p>
                      <a:pPr algn="l"/>
                      <a:r>
                        <a:rPr sz="1650" b="0">
                          <a:solidFill>
                            <a:srgbClr val="132A3C"/>
                          </a:solidFill>
                          <a:latin typeface="Arial"/>
                          <a:ea typeface="Arial"/>
                          <a:cs typeface="Arial"/>
                        </a:rPr>
                        <a:t>15 minutes</a:t>
                      </a:r>
                    </a:p>
                  </a:txBody>
                  <a:tcPr marL="114300" marR="114300" marT="66675" marB="66675" anchor="ctr">
                    <a:solidFill>
                      <a:srgbClr val="EDF3F8"/>
                    </a:solidFill>
                  </a:tcPr>
                </a:tc>
                <a:tc>
                  <a:txBody>
                    <a:bodyPr wrap="square">
                      <a:noAutofit/>
                    </a:bodyPr>
                    <a:lstStyle/>
                    <a:p>
                      <a:pPr algn="l"/>
                      <a:r>
                        <a:rPr sz="1650" b="0">
                          <a:solidFill>
                            <a:srgbClr val="132A3C"/>
                          </a:solidFill>
                          <a:latin typeface="Arial"/>
                          <a:ea typeface="Arial"/>
                          <a:cs typeface="Arial"/>
                        </a:rPr>
                        <a:t>Reject</a:t>
                      </a:r>
                    </a:p>
                  </a:txBody>
                  <a:tcPr marL="114300" marR="114300" marT="66675" marB="66675" anchor="ctr">
                    <a:solidFill>
                      <a:srgbClr val="EDF3F8"/>
                    </a:solidFill>
                  </a:tcPr>
                </a:tc>
              </a:tr>
              <a:tr h="414338">
                <a:tc>
                  <a:txBody>
                    <a:bodyPr wrap="square">
                      <a:noAutofit/>
                    </a:bodyPr>
                    <a:lstStyle/>
                    <a:p>
                      <a:pPr algn="l"/>
                      <a:r>
                        <a:rPr sz="1650" b="0">
                          <a:solidFill>
                            <a:srgbClr val="132A3C"/>
                          </a:solidFill>
                          <a:latin typeface="Arial"/>
                          <a:ea typeface="Arial"/>
                          <a:cs typeface="Arial"/>
                        </a:rPr>
                        <a:t>10 minutes</a:t>
                      </a:r>
                    </a:p>
                  </a:txBody>
                  <a:tcPr marL="114300" marR="114300" marT="66675" marB="66675" anchor="ctr">
                    <a:solidFill>
                      <a:srgbClr val="FFFFFF"/>
                    </a:solidFill>
                  </a:tcPr>
                </a:tc>
                <a:tc>
                  <a:txBody>
                    <a:bodyPr wrap="square">
                      <a:noAutofit/>
                    </a:bodyPr>
                    <a:lstStyle/>
                    <a:p>
                      <a:pPr algn="l"/>
                      <a:r>
                        <a:rPr sz="1650" b="0">
                          <a:solidFill>
                            <a:srgbClr val="132A3C"/>
                          </a:solidFill>
                          <a:latin typeface="Arial"/>
                          <a:ea typeface="Arial"/>
                          <a:cs typeface="Arial"/>
                        </a:rPr>
                        <a:t>09:10</a:t>
                      </a:r>
                    </a:p>
                  </a:txBody>
                  <a:tcPr marL="114300" marR="114300" marT="66675" marB="66675" anchor="ctr">
                    <a:solidFill>
                      <a:srgbClr val="FFFFFF"/>
                    </a:solidFill>
                  </a:tcPr>
                </a:tc>
                <a:tc>
                  <a:txBody>
                    <a:bodyPr wrap="square">
                      <a:noAutofit/>
                    </a:bodyPr>
                    <a:lstStyle/>
                    <a:p>
                      <a:pPr algn="l"/>
                      <a:r>
                        <a:rPr sz="1650" b="0">
                          <a:solidFill>
                            <a:srgbClr val="132A3C"/>
                          </a:solidFill>
                          <a:latin typeface="Arial"/>
                          <a:ea typeface="Arial"/>
                          <a:cs typeface="Arial"/>
                        </a:rPr>
                        <a:t>35 minutes</a:t>
                      </a:r>
                    </a:p>
                  </a:txBody>
                  <a:tcPr marL="114300" marR="114300" marT="66675" marB="66675" anchor="ctr">
                    <a:solidFill>
                      <a:srgbClr val="FFFFFF"/>
                    </a:solidFill>
                  </a:tcPr>
                </a:tc>
                <a:tc>
                  <a:txBody>
                    <a:bodyPr wrap="square">
                      <a:noAutofit/>
                    </a:bodyPr>
                    <a:lstStyle/>
                    <a:p>
                      <a:pPr algn="l"/>
                      <a:r>
                        <a:rPr sz="1650" b="0">
                          <a:solidFill>
                            <a:srgbClr val="132A3C"/>
                          </a:solidFill>
                          <a:latin typeface="Arial"/>
                          <a:ea typeface="Arial"/>
                          <a:cs typeface="Arial"/>
                        </a:rPr>
                        <a:t>Accept</a:t>
                      </a:r>
                    </a:p>
                  </a:txBody>
                  <a:tcPr marL="114300" marR="114300" marT="66675" marB="66675" anchor="ctr">
                    <a:solidFill>
                      <a:srgbClr val="FFFFFF"/>
                    </a:solidFill>
                  </a:tcPr>
                </a:tc>
              </a:tr>
            </a:tbl>
          </a:graphicData>
        </a:graphic>
      </p:graphicFrame>
      <p:sp>
        <p:nvSpPr>
          <p:cNvPr id="8" name="text-6">
            <a:extLst xmlns:a="http://schemas.openxmlformats.org/drawingml/2006/main">
              <a:ext uri="{FF2B5EF4-FFF2-40B4-BE49-F238E27FC236}">
                <a16:creationId xmlns:a16="http://schemas.microsoft.com/office/drawing/2014/main" id="{92C81283-40D6-46C2-B7B2-CF81BB674DAB}"/>
              </a:ext>
            </a:extLst>
          </p:cNvPr>
          <p:cNvSpPr>
            <a:spLocks xmlns:a="http://schemas.openxmlformats.org/drawingml/2006/main" noGrp="1"/>
          </p:cNvSpPr>
          <p:nvPr/>
        </p:nvSpPr>
        <p:spPr>
          <a:xfrm xmlns:a="http://schemas.openxmlformats.org/drawingml/2006/main">
            <a:off x="609600" y="60102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Same gate and a gap below 30 minutes creates a clash.</a:t>
            </a:r>
          </a:p>
        </p:txBody>
      </p:sp>
    </p:spTree>
    <p:extLst>
      <p:ext uri="{BB962C8B-B14F-4D97-AF65-F5344CB8AC3E}">
        <p14:creationId xmlns:p14="http://schemas.microsoft.com/office/powerpoint/2010/main" val="1074320170"/>
      </p:ext>
    </p:extLst>
  </p:cSld>
</p:sld>
</file>

<file path=ppt/slides/slide1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D4C42F82-6642-4910-A5F9-B5EC5BBB6799}"/>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if-else and total delay</a:t>
            </a:r>
          </a:p>
        </p:txBody>
      </p:sp>
      <p:sp>
        <p:nvSpPr>
          <p:cNvPr id="2" name="source">
            <a:extLst xmlns:a="http://schemas.openxmlformats.org/drawingml/2006/main">
              <a:ext uri="{FF2B5EF4-FFF2-40B4-BE49-F238E27FC236}">
                <a16:creationId xmlns:a16="http://schemas.microsoft.com/office/drawing/2014/main" id="{970989F0-F2D1-408D-B1C0-EFAAE6045CCD}"/>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FlightScheduler.setDelay   Code excerpt</a:t>
            </a:r>
          </a:p>
        </p:txBody>
      </p:sp>
      <p:sp>
        <p:nvSpPr>
          <p:cNvPr id="3" name="page-number">
            <a:extLst xmlns:a="http://schemas.openxmlformats.org/drawingml/2006/main">
              <a:ext uri="{FF2B5EF4-FFF2-40B4-BE49-F238E27FC236}">
                <a16:creationId xmlns:a16="http://schemas.microsoft.com/office/drawing/2014/main" id="{DC0707E5-5620-4C1A-BE74-1EBB197E55B6}"/>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16</a:t>
            </a:r>
          </a:p>
        </p:txBody>
      </p:sp>
      <p:sp>
        <p:nvSpPr>
          <p:cNvPr id="4" name="editable-code">
            <a:extLst xmlns:a="http://schemas.openxmlformats.org/drawingml/2006/main">
              <a:ext uri="{FF2B5EF4-FFF2-40B4-BE49-F238E27FC236}">
                <a16:creationId xmlns:a16="http://schemas.microsoft.com/office/drawing/2014/main" id="{E80A508D-3CC0-4E96-ABF5-D03CB78D8D38}"/>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int expected = flight.getScheduledMinutes()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 totalDelayMinutes;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String status;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if (totalDelayMinutes == 0)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status = Flight.SCHEDULED;</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else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status = Flight.DELAYED;</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checkGate(flight.getGate(), expected, status,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flight.getNumber());</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flight.updateBoardDetails(expected,</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flight.getGate(), status);</a:t>
            </a:r>
          </a:p>
        </p:txBody>
      </p:sp>
      <p:sp>
        <p:nvSpPr>
          <p:cNvPr id="5" name="text-4">
            <a:extLst xmlns:a="http://schemas.openxmlformats.org/drawingml/2006/main">
              <a:ext uri="{FF2B5EF4-FFF2-40B4-BE49-F238E27FC236}">
                <a16:creationId xmlns:a16="http://schemas.microsoft.com/office/drawing/2014/main" id="{85D95DAA-9374-4FBD-B583-E3208BDAA096}"/>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CF83661D-3B9E-44AA-BA57-3A6AE3BE607D}"/>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Choose the correct status after calculating the proposed time.</a:t>
            </a:r>
          </a:p>
        </p:txBody>
      </p:sp>
      <p:sp>
        <p:nvSpPr>
          <p:cNvPr id="7" name="text-6">
            <a:extLst xmlns:a="http://schemas.openxmlformats.org/drawingml/2006/main">
              <a:ext uri="{FF2B5EF4-FFF2-40B4-BE49-F238E27FC236}">
                <a16:creationId xmlns:a16="http://schemas.microsoft.com/office/drawing/2014/main" id="{724415FA-F837-4CBC-8F44-31D6E6E3CF91}"/>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A36C2AE2-B46C-4C16-B557-F32E13C8D916}"/>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09:00 + 10 minutes</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Expected: 09:10</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Status: DELAYED</a:t>
            </a:r>
          </a:p>
        </p:txBody>
      </p:sp>
      <p:sp>
        <p:nvSpPr>
          <p:cNvPr id="9" name="takeaway">
            <a:extLst xmlns:a="http://schemas.openxmlformats.org/drawingml/2006/main">
              <a:ext uri="{FF2B5EF4-FFF2-40B4-BE49-F238E27FC236}">
                <a16:creationId xmlns:a16="http://schemas.microsoft.com/office/drawing/2014/main" id="{9F7495FD-6C2F-411D-8445-1602B3D3DB29}"/>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Setting 10 after setting 15 changes the total delay to 10 minutes.</a:t>
            </a:r>
          </a:p>
        </p:txBody>
      </p:sp>
    </p:spTree>
    <p:extLst>
      <p:ext uri="{BB962C8B-B14F-4D97-AF65-F5344CB8AC3E}">
        <p14:creationId xmlns:p14="http://schemas.microsoft.com/office/powerpoint/2010/main" val="544945045"/>
      </p:ext>
    </p:extLst>
  </p:cSld>
</p:sld>
</file>

<file path=ppt/slides/slide1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FB6E6CF7-086B-48C1-8D31-9A91E78C3E28}"/>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Gate update through reusable methods</a:t>
            </a:r>
          </a:p>
        </p:txBody>
      </p:sp>
      <p:sp>
        <p:nvSpPr>
          <p:cNvPr id="2" name="source">
            <a:extLst xmlns:a="http://schemas.openxmlformats.org/drawingml/2006/main">
              <a:ext uri="{FF2B5EF4-FFF2-40B4-BE49-F238E27FC236}">
                <a16:creationId xmlns:a16="http://schemas.microsoft.com/office/drawing/2014/main" id="{0798BCCB-B947-4656-ADC4-D700B7633FEF}"/>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FlightScheduler.changeGate   Code excerpt</a:t>
            </a:r>
          </a:p>
        </p:txBody>
      </p:sp>
      <p:sp>
        <p:nvSpPr>
          <p:cNvPr id="3" name="page-number">
            <a:extLst xmlns:a="http://schemas.openxmlformats.org/drawingml/2006/main">
              <a:ext uri="{FF2B5EF4-FFF2-40B4-BE49-F238E27FC236}">
                <a16:creationId xmlns:a16="http://schemas.microsoft.com/office/drawing/2014/main" id="{418C66F4-7D57-4434-80C7-AEF4C9675C46}"/>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17</a:t>
            </a:r>
          </a:p>
        </p:txBody>
      </p:sp>
      <p:sp>
        <p:nvSpPr>
          <p:cNvPr id="4" name="editable-code">
            <a:extLst xmlns:a="http://schemas.openxmlformats.org/drawingml/2006/main">
              <a:ext uri="{FF2B5EF4-FFF2-40B4-BE49-F238E27FC236}">
                <a16:creationId xmlns:a16="http://schemas.microsoft.com/office/drawing/2014/main" id="{949E7024-2E5D-47FB-B89D-4F7BCF7B002A}"/>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Flight flight = requireFlight(number);</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if (!flight.isActive())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throw new IllegalArgumentException(</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"Flight is inactive.");</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String checkedGate = Flight.normalizeGate(gate);</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checkGate(checkedGate, flight.getExpectedMinutes(),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flight.getStatus(), flight.getNumber());</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flight.updateBoardDetails(flight.getExpectedMinutes(),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checkedGate, flight.getStatus());</a:t>
            </a:r>
          </a:p>
        </p:txBody>
      </p:sp>
      <p:sp>
        <p:nvSpPr>
          <p:cNvPr id="5" name="text-4">
            <a:extLst xmlns:a="http://schemas.openxmlformats.org/drawingml/2006/main">
              <a:ext uri="{FF2B5EF4-FFF2-40B4-BE49-F238E27FC236}">
                <a16:creationId xmlns:a16="http://schemas.microsoft.com/office/drawing/2014/main" id="{E8F6E0CD-1763-42C8-AA78-8E82F4E57AF8}"/>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F8E724B9-EA5C-44D6-9214-54B0A5A38747}"/>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Use the same validation when an operator selects a new gate.</a:t>
            </a:r>
          </a:p>
        </p:txBody>
      </p:sp>
      <p:sp>
        <p:nvSpPr>
          <p:cNvPr id="7" name="text-6">
            <a:extLst xmlns:a="http://schemas.openxmlformats.org/drawingml/2006/main">
              <a:ext uri="{FF2B5EF4-FFF2-40B4-BE49-F238E27FC236}">
                <a16:creationId xmlns:a16="http://schemas.microsoft.com/office/drawing/2014/main" id="{FDFE29F4-4912-46F4-A1AD-AC08A15E792F}"/>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B2782164-6FE6-49AF-B7B3-E20BE0687AD1}"/>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Move 6E101</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from A1 to B1.</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Check B1 before editing.</a:t>
            </a:r>
          </a:p>
        </p:txBody>
      </p:sp>
      <p:sp>
        <p:nvSpPr>
          <p:cNvPr id="9" name="takeaway">
            <a:extLst xmlns:a="http://schemas.openxmlformats.org/drawingml/2006/main">
              <a:ext uri="{FF2B5EF4-FFF2-40B4-BE49-F238E27FC236}">
                <a16:creationId xmlns:a16="http://schemas.microsoft.com/office/drawing/2014/main" id="{A3529E50-F9B5-4FAE-A28D-49D6BE357F09}"/>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A rejected gate change leaves the previous gate unchanged.</a:t>
            </a:r>
          </a:p>
        </p:txBody>
      </p:sp>
    </p:spTree>
    <p:extLst>
      <p:ext uri="{BB962C8B-B14F-4D97-AF65-F5344CB8AC3E}">
        <p14:creationId xmlns:p14="http://schemas.microsoft.com/office/powerpoint/2010/main" val="963113226"/>
      </p:ext>
    </p:extLst>
  </p:cSld>
</p:sld>
</file>

<file path=ppt/slides/slide1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A9F8C503-AA2B-4DF3-95FF-69D6E1778550}"/>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Status comparison and update</a:t>
            </a:r>
          </a:p>
        </p:txBody>
      </p:sp>
      <p:sp>
        <p:nvSpPr>
          <p:cNvPr id="2" name="source">
            <a:extLst xmlns:a="http://schemas.openxmlformats.org/drawingml/2006/main">
              <a:ext uri="{FF2B5EF4-FFF2-40B4-BE49-F238E27FC236}">
                <a16:creationId xmlns:a16="http://schemas.microsoft.com/office/drawing/2014/main" id="{916F8C17-6327-4DCD-BDDB-BAC6077B3A80}"/>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Flight status helpers and FlightScheduler.changeStatus   Code excerpt</a:t>
            </a:r>
          </a:p>
        </p:txBody>
      </p:sp>
      <p:sp>
        <p:nvSpPr>
          <p:cNvPr id="3" name="page-number">
            <a:extLst xmlns:a="http://schemas.openxmlformats.org/drawingml/2006/main">
              <a:ext uri="{FF2B5EF4-FFF2-40B4-BE49-F238E27FC236}">
                <a16:creationId xmlns:a16="http://schemas.microsoft.com/office/drawing/2014/main" id="{99B696C5-5A07-44A4-ADAF-B260FB64EC85}"/>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18</a:t>
            </a:r>
          </a:p>
        </p:txBody>
      </p:sp>
      <p:sp>
        <p:nvSpPr>
          <p:cNvPr id="4" name="editable-code">
            <a:extLst xmlns:a="http://schemas.openxmlformats.org/drawingml/2006/main">
              <a:ext uri="{FF2B5EF4-FFF2-40B4-BE49-F238E27FC236}">
                <a16:creationId xmlns:a16="http://schemas.microsoft.com/office/drawing/2014/main" id="{3A38D554-53B9-4F52-94D6-1F84FED30B23}"/>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public static boolean isActiveStatus(String status)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return SCHEDULED.equals(status)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 DELAYED.equals(status)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 BOARDING.equals(status);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a:t>
            </a:r>
          </a:p>
          <a:p xmlns:a="http://schemas.openxmlformats.org/drawingml/2006/main">
            <a:r>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String checkedStatus = status.trim()</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.toUpperCase(Locale.ROOT);</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checkGate(flight.getGate(), flight.getExpectedMinutes(),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checkedStatus, flight.getNumber());</a:t>
            </a:r>
          </a:p>
        </p:txBody>
      </p:sp>
      <p:sp>
        <p:nvSpPr>
          <p:cNvPr id="5" name="text-4">
            <a:extLst xmlns:a="http://schemas.openxmlformats.org/drawingml/2006/main">
              <a:ext uri="{FF2B5EF4-FFF2-40B4-BE49-F238E27FC236}">
                <a16:creationId xmlns:a16="http://schemas.microsoft.com/office/drawing/2014/main" id="{DA834304-D4F5-4066-9867-23A8174A9968}"/>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1B0D1F3D-4246-4CE5-9EF3-FBE5F300E5B2}"/>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Keep status values consistent and release inactive gates.</a:t>
            </a:r>
          </a:p>
        </p:txBody>
      </p:sp>
      <p:sp>
        <p:nvSpPr>
          <p:cNvPr id="7" name="text-6">
            <a:extLst xmlns:a="http://schemas.openxmlformats.org/drawingml/2006/main">
              <a:ext uri="{FF2B5EF4-FFF2-40B4-BE49-F238E27FC236}">
                <a16:creationId xmlns:a16="http://schemas.microsoft.com/office/drawing/2014/main" id="{11B28ECE-FB69-4F1F-92A7-619B8CF4A927}"/>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1B2F7DDD-C41B-45F4-B801-E744767B1C16}"/>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Active: scheduled,</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delayed, boarding</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Released: departed, cancelled</a:t>
            </a:r>
          </a:p>
        </p:txBody>
      </p:sp>
      <p:sp>
        <p:nvSpPr>
          <p:cNvPr id="9" name="takeaway">
            <a:extLst xmlns:a="http://schemas.openxmlformats.org/drawingml/2006/main">
              <a:ext uri="{FF2B5EF4-FFF2-40B4-BE49-F238E27FC236}">
                <a16:creationId xmlns:a16="http://schemas.microsoft.com/office/drawing/2014/main" id="{6E66CDF7-67E2-45B7-BBF9-253772A380DC}"/>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Reactivating a record checks gate availability again.</a:t>
            </a:r>
          </a:p>
        </p:txBody>
      </p:sp>
    </p:spTree>
    <p:extLst>
      <p:ext uri="{BB962C8B-B14F-4D97-AF65-F5344CB8AC3E}">
        <p14:creationId xmlns:p14="http://schemas.microsoft.com/office/powerpoint/2010/main" val="1850571501"/>
      </p:ext>
    </p:extLst>
  </p:cSld>
</p:sld>
</file>

<file path=ppt/slides/slide1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922E36E5-0DF8-45F8-A7D1-C29B4031B0E5}"/>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Comparator interface and overriding</a:t>
            </a:r>
          </a:p>
        </p:txBody>
      </p:sp>
      <p:sp>
        <p:nvSpPr>
          <p:cNvPr id="2" name="source">
            <a:extLst xmlns:a="http://schemas.openxmlformats.org/drawingml/2006/main">
              <a:ext uri="{FF2B5EF4-FFF2-40B4-BE49-F238E27FC236}">
                <a16:creationId xmlns:a16="http://schemas.microsoft.com/office/drawing/2014/main" id="{D3669FAE-5FA9-4B15-8384-BAA1209C4621}"/>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FlightTimeComparator.java   Code excerpt</a:t>
            </a:r>
          </a:p>
        </p:txBody>
      </p:sp>
      <p:sp>
        <p:nvSpPr>
          <p:cNvPr id="3" name="page-number">
            <a:extLst xmlns:a="http://schemas.openxmlformats.org/drawingml/2006/main">
              <a:ext uri="{FF2B5EF4-FFF2-40B4-BE49-F238E27FC236}">
                <a16:creationId xmlns:a16="http://schemas.microsoft.com/office/drawing/2014/main" id="{63FE279E-8296-4B80-9407-2EFDC346B007}"/>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19</a:t>
            </a:r>
          </a:p>
        </p:txBody>
      </p:sp>
      <p:sp>
        <p:nvSpPr>
          <p:cNvPr id="4" name="editable-code">
            <a:extLst xmlns:a="http://schemas.openxmlformats.org/drawingml/2006/main">
              <a:ext uri="{FF2B5EF4-FFF2-40B4-BE49-F238E27FC236}">
                <a16:creationId xmlns:a16="http://schemas.microsoft.com/office/drawing/2014/main" id="{90E343C5-76A7-4DA0-94DD-9D0603CB1075}"/>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public class FlightTimeComparator</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implements Comparator&lt;Flight&gt; {</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@Override</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public int compare(Flight first, Flight second) {</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if (first.getExpectedMinutes()</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&lt; second.getExpectedMinutes()) return -1;</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if (first.getExpectedMinutes()</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&gt; second.getExpectedMinutes()) return 1;</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return first.getNumber()</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.compareTo(second.getNumber());</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a:t>
            </a:r>
          </a:p>
        </p:txBody>
      </p:sp>
      <p:sp>
        <p:nvSpPr>
          <p:cNvPr id="5" name="text-4">
            <a:extLst xmlns:a="http://schemas.openxmlformats.org/drawingml/2006/main">
              <a:ext uri="{FF2B5EF4-FFF2-40B4-BE49-F238E27FC236}">
                <a16:creationId xmlns:a16="http://schemas.microsoft.com/office/drawing/2014/main" id="{1E5CF532-8CF5-42FF-A508-6A27C785AC1A}"/>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C9C69843-7FFC-4A01-9F01-03188BDB6C7C}"/>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Supply an ordering rule to the Java sorting library.</a:t>
            </a:r>
          </a:p>
        </p:txBody>
      </p:sp>
      <p:sp>
        <p:nvSpPr>
          <p:cNvPr id="7" name="text-6">
            <a:extLst xmlns:a="http://schemas.openxmlformats.org/drawingml/2006/main">
              <a:ext uri="{FF2B5EF4-FFF2-40B4-BE49-F238E27FC236}">
                <a16:creationId xmlns:a16="http://schemas.microsoft.com/office/drawing/2014/main" id="{9E6F0A58-89FD-4B48-A0CB-F3F6224C0146}"/>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7393B699-E88F-4FDE-AABD-3292565A1B1B}"/>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Earlier time first.</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Equal times use</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flight number as a tie.</a:t>
            </a:r>
          </a:p>
        </p:txBody>
      </p:sp>
      <p:sp>
        <p:nvSpPr>
          <p:cNvPr id="9" name="takeaway">
            <a:extLst xmlns:a="http://schemas.openxmlformats.org/drawingml/2006/main">
              <a:ext uri="{FF2B5EF4-FFF2-40B4-BE49-F238E27FC236}">
                <a16:creationId xmlns:a16="http://schemas.microsoft.com/office/drawing/2014/main" id="{B0EA3038-5894-48BC-AD4F-F26C0691A888}"/>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The comparator is a Comparator of Flight objects.</a:t>
            </a:r>
          </a:p>
        </p:txBody>
      </p:sp>
    </p:spTree>
    <p:extLst>
      <p:ext uri="{BB962C8B-B14F-4D97-AF65-F5344CB8AC3E}">
        <p14:creationId xmlns:p14="http://schemas.microsoft.com/office/powerpoint/2010/main" val="168320698"/>
      </p:ext>
    </p:extLst>
  </p:cSld>
</p:sld>
</file>

<file path=ppt/slides/slide2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BAA81418-6E28-41C2-913F-2BAFB251D006}"/>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Library sorting with Arrays.sort</a:t>
            </a:r>
          </a:p>
        </p:txBody>
      </p:sp>
      <p:sp>
        <p:nvSpPr>
          <p:cNvPr id="2" name="source">
            <a:extLst xmlns:a="http://schemas.openxmlformats.org/drawingml/2006/main">
              <a:ext uri="{FF2B5EF4-FFF2-40B4-BE49-F238E27FC236}">
                <a16:creationId xmlns:a16="http://schemas.microsoft.com/office/drawing/2014/main" id="{8CC489D4-8C21-4FCE-9829-8A87E254B1DF}"/>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FlightScheduler.getSortedFlights   Code excerpt</a:t>
            </a:r>
          </a:p>
        </p:txBody>
      </p:sp>
      <p:sp>
        <p:nvSpPr>
          <p:cNvPr id="3" name="page-number">
            <a:extLst xmlns:a="http://schemas.openxmlformats.org/drawingml/2006/main">
              <a:ext uri="{FF2B5EF4-FFF2-40B4-BE49-F238E27FC236}">
                <a16:creationId xmlns:a16="http://schemas.microsoft.com/office/drawing/2014/main" id="{88ECDD71-9BD1-4780-96E2-5F3110F19362}"/>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20</a:t>
            </a:r>
          </a:p>
        </p:txBody>
      </p:sp>
      <p:sp>
        <p:nvSpPr>
          <p:cNvPr id="4" name="text-3">
            <a:extLst xmlns:a="http://schemas.openxmlformats.org/drawingml/2006/main">
              <a:ext uri="{FF2B5EF4-FFF2-40B4-BE49-F238E27FC236}">
                <a16:creationId xmlns:a16="http://schemas.microsoft.com/office/drawing/2014/main" id="{8EE15791-C895-4127-A22D-8A2060CFAD53}"/>
              </a:ext>
            </a:extLst>
          </p:cNvPr>
          <p:cNvSpPr>
            <a:spLocks xmlns:a="http://schemas.openxmlformats.org/drawingml/2006/main" noGrp="1"/>
          </p:cNvSpPr>
          <p:nvPr/>
        </p:nvSpPr>
        <p:spPr>
          <a:xfrm xmlns:a="http://schemas.openxmlformats.org/drawingml/2006/main">
            <a:off x="609600" y="1609725"/>
            <a:ext cx="80581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Flight[] board = Arrays.copyOf(flights, count);</a:t>
            </a:r>
          </a:p>
          <a:p xmlns:a="http://schemas.openxmlformats.org/drawingml/2006/main">
            <a:pPr algn="l">
              <a:lnSpc>
                <a:spcPct val="115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Arrays.sort(board, new FlightTimeComparator());</a:t>
            </a:r>
          </a:p>
          <a:p xmlns:a="http://schemas.openxmlformats.org/drawingml/2006/main">
            <a:pPr algn="l">
              <a:lnSpc>
                <a:spcPct val="115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return board;</a:t>
            </a:r>
          </a:p>
        </p:txBody>
      </p:sp>
      <p:sp>
        <p:nvSpPr>
          <p:cNvPr id="5" name="text-4">
            <a:extLst xmlns:a="http://schemas.openxmlformats.org/drawingml/2006/main">
              <a:ext uri="{FF2B5EF4-FFF2-40B4-BE49-F238E27FC236}">
                <a16:creationId xmlns:a16="http://schemas.microsoft.com/office/drawing/2014/main" id="{63FA4774-B949-44BE-920F-CD6FB03ABA73}"/>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text-5">
            <a:extLst xmlns:a="http://schemas.openxmlformats.org/drawingml/2006/main">
              <a:ext uri="{FF2B5EF4-FFF2-40B4-BE49-F238E27FC236}">
                <a16:creationId xmlns:a16="http://schemas.microsoft.com/office/drawing/2014/main" id="{FBA2BE68-418A-4FF5-AF24-3B299E32679F}"/>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Sort occupied array slots for the display.</a:t>
            </a:r>
          </a:p>
        </p:txBody>
      </p:sp>
      <p:graphicFrame>
        <p:nvGraphicFramePr>
          <p:cNvPr id="15" name=""/>
          <p:cNvGraphicFramePr/>
          <p:nvPr/>
        </p:nvGraphicFramePr>
        <p:xfrm>
          <a:off xmlns:a="http://schemas.openxmlformats.org/drawingml/2006/main" x="609600" y="3457575"/>
          <a:ext xmlns:a="http://schemas.openxmlformats.org/drawingml/2006/main" cx="10972800" cy="2066925"/>
        </p:xfrm>
        <a:graphic xmlns:a="http://schemas.openxmlformats.org/drawingml/2006/main">
          <a:graphicData uri="http://schemas.openxmlformats.org/drawingml/2006/table">
            <a:tbl>
              <a:tblPr firstRow="1" bandRow="0"/>
              <a:tblGrid>
                <a:gridCol w="1714500"/>
                <a:gridCol w="4629150"/>
                <a:gridCol w="4629150"/>
              </a:tblGrid>
              <a:tr h="516731">
                <a:tc>
                  <a:txBody>
                    <a:bodyPr wrap="square">
                      <a:noAutofit/>
                    </a:bodyPr>
                    <a:lstStyle/>
                    <a:p>
                      <a:pPr algn="l"/>
                      <a:r>
                        <a:rPr sz="1800" b="1">
                          <a:solidFill>
                            <a:srgbClr val="FFFFFF"/>
                          </a:solidFill>
                          <a:latin typeface="Arial"/>
                          <a:ea typeface="Arial"/>
                          <a:cs typeface="Arial"/>
                        </a:rPr>
                        <a:t>Position</a:t>
                      </a:r>
                    </a:p>
                  </a:txBody>
                  <a:tcPr marL="114300" marR="114300" marT="66675" marB="66675" anchor="ctr">
                    <a:solidFill>
                      <a:srgbClr val="052035"/>
                    </a:solidFill>
                  </a:tcPr>
                </a:tc>
                <a:tc>
                  <a:txBody>
                    <a:bodyPr wrap="square">
                      <a:noAutofit/>
                    </a:bodyPr>
                    <a:lstStyle/>
                    <a:p>
                      <a:pPr algn="l"/>
                      <a:r>
                        <a:rPr sz="1800" b="1">
                          <a:solidFill>
                            <a:srgbClr val="FFFFFF"/>
                          </a:solidFill>
                          <a:latin typeface="Arial"/>
                          <a:ea typeface="Arial"/>
                          <a:cs typeface="Arial"/>
                        </a:rPr>
                        <a:t>Before sorting</a:t>
                      </a:r>
                    </a:p>
                  </a:txBody>
                  <a:tcPr marL="114300" marR="114300" marT="66675" marB="66675" anchor="ctr">
                    <a:solidFill>
                      <a:srgbClr val="052035"/>
                    </a:solidFill>
                  </a:tcPr>
                </a:tc>
                <a:tc>
                  <a:txBody>
                    <a:bodyPr wrap="square">
                      <a:noAutofit/>
                    </a:bodyPr>
                    <a:lstStyle/>
                    <a:p>
                      <a:pPr algn="l"/>
                      <a:r>
                        <a:rPr sz="1800" b="1">
                          <a:solidFill>
                            <a:srgbClr val="FFFFFF"/>
                          </a:solidFill>
                          <a:latin typeface="Arial"/>
                          <a:ea typeface="Arial"/>
                          <a:cs typeface="Arial"/>
                        </a:rPr>
                        <a:t>After sorting</a:t>
                      </a:r>
                    </a:p>
                  </a:txBody>
                  <a:tcPr marL="114300" marR="114300" marT="66675" marB="66675" anchor="ctr">
                    <a:solidFill>
                      <a:srgbClr val="052035"/>
                    </a:solidFill>
                  </a:tcPr>
                </a:tc>
              </a:tr>
              <a:tr h="516731">
                <a:tc>
                  <a:txBody>
                    <a:bodyPr wrap="square">
                      <a:noAutofit/>
                    </a:bodyPr>
                    <a:lstStyle/>
                    <a:p>
                      <a:pPr algn="l"/>
                      <a:r>
                        <a:rPr sz="1800" b="0">
                          <a:solidFill>
                            <a:srgbClr val="132A3C"/>
                          </a:solidFill>
                          <a:latin typeface="Arial"/>
                          <a:ea typeface="Arial"/>
                          <a:cs typeface="Arial"/>
                        </a:rPr>
                        <a:t>0</a:t>
                      </a:r>
                    </a:p>
                  </a:txBody>
                  <a:tcPr marL="114300" marR="114300" marT="66675" marB="66675" anchor="ctr">
                    <a:solidFill>
                      <a:srgbClr val="FFFFFF"/>
                    </a:solidFill>
                  </a:tcPr>
                </a:tc>
                <a:tc>
                  <a:txBody>
                    <a:bodyPr wrap="square">
                      <a:noAutofit/>
                    </a:bodyPr>
                    <a:lstStyle/>
                    <a:p>
                      <a:pPr algn="l"/>
                      <a:r>
                        <a:rPr sz="1800" b="0">
                          <a:solidFill>
                            <a:srgbClr val="132A3C"/>
                          </a:solidFill>
                          <a:latin typeface="Arial"/>
                          <a:ea typeface="Arial"/>
                          <a:cs typeface="Arial"/>
                        </a:rPr>
                        <a:t>ZZ1 at 12:00</a:t>
                      </a:r>
                    </a:p>
                  </a:txBody>
                  <a:tcPr marL="114300" marR="114300" marT="66675" marB="66675" anchor="ctr">
                    <a:solidFill>
                      <a:srgbClr val="FFFFFF"/>
                    </a:solidFill>
                  </a:tcPr>
                </a:tc>
                <a:tc>
                  <a:txBody>
                    <a:bodyPr wrap="square">
                      <a:noAutofit/>
                    </a:bodyPr>
                    <a:lstStyle/>
                    <a:p>
                      <a:pPr algn="l"/>
                      <a:r>
                        <a:rPr sz="1800" b="0">
                          <a:solidFill>
                            <a:srgbClr val="132A3C"/>
                          </a:solidFill>
                          <a:latin typeface="Arial"/>
                          <a:ea typeface="Arial"/>
                          <a:cs typeface="Arial"/>
                        </a:rPr>
                        <a:t>AA1 at 09:00</a:t>
                      </a:r>
                    </a:p>
                  </a:txBody>
                  <a:tcPr marL="114300" marR="114300" marT="66675" marB="66675" anchor="ctr">
                    <a:solidFill>
                      <a:srgbClr val="FFFFFF"/>
                    </a:solidFill>
                  </a:tcPr>
                </a:tc>
              </a:tr>
              <a:tr h="516731">
                <a:tc>
                  <a:txBody>
                    <a:bodyPr wrap="square">
                      <a:noAutofit/>
                    </a:bodyPr>
                    <a:lstStyle/>
                    <a:p>
                      <a:pPr algn="l"/>
                      <a:r>
                        <a:rPr sz="1800" b="0">
                          <a:solidFill>
                            <a:srgbClr val="132A3C"/>
                          </a:solidFill>
                          <a:latin typeface="Arial"/>
                          <a:ea typeface="Arial"/>
                          <a:cs typeface="Arial"/>
                        </a:rPr>
                        <a:t>1</a:t>
                      </a:r>
                    </a:p>
                  </a:txBody>
                  <a:tcPr marL="114300" marR="114300" marT="66675" marB="66675" anchor="ctr">
                    <a:solidFill>
                      <a:srgbClr val="EDF3F8"/>
                    </a:solidFill>
                  </a:tcPr>
                </a:tc>
                <a:tc>
                  <a:txBody>
                    <a:bodyPr wrap="square">
                      <a:noAutofit/>
                    </a:bodyPr>
                    <a:lstStyle/>
                    <a:p>
                      <a:pPr algn="l"/>
                      <a:r>
                        <a:rPr sz="1800" b="0">
                          <a:solidFill>
                            <a:srgbClr val="132A3C"/>
                          </a:solidFill>
                          <a:latin typeface="Arial"/>
                          <a:ea typeface="Arial"/>
                          <a:cs typeface="Arial"/>
                        </a:rPr>
                        <a:t>BB1 at 09:00</a:t>
                      </a:r>
                    </a:p>
                  </a:txBody>
                  <a:tcPr marL="114300" marR="114300" marT="66675" marB="66675" anchor="ctr">
                    <a:solidFill>
                      <a:srgbClr val="EDF3F8"/>
                    </a:solidFill>
                  </a:tcPr>
                </a:tc>
                <a:tc>
                  <a:txBody>
                    <a:bodyPr wrap="square">
                      <a:noAutofit/>
                    </a:bodyPr>
                    <a:lstStyle/>
                    <a:p>
                      <a:pPr algn="l"/>
                      <a:r>
                        <a:rPr sz="1800" b="0">
                          <a:solidFill>
                            <a:srgbClr val="132A3C"/>
                          </a:solidFill>
                          <a:latin typeface="Arial"/>
                          <a:ea typeface="Arial"/>
                          <a:cs typeface="Arial"/>
                        </a:rPr>
                        <a:t>BB1 at 09:00</a:t>
                      </a:r>
                    </a:p>
                  </a:txBody>
                  <a:tcPr marL="114300" marR="114300" marT="66675" marB="66675" anchor="ctr">
                    <a:solidFill>
                      <a:srgbClr val="EDF3F8"/>
                    </a:solidFill>
                  </a:tcPr>
                </a:tc>
              </a:tr>
              <a:tr h="516731">
                <a:tc>
                  <a:txBody>
                    <a:bodyPr wrap="square">
                      <a:noAutofit/>
                    </a:bodyPr>
                    <a:lstStyle/>
                    <a:p>
                      <a:pPr algn="l"/>
                      <a:r>
                        <a:rPr sz="1800" b="0">
                          <a:solidFill>
                            <a:srgbClr val="132A3C"/>
                          </a:solidFill>
                          <a:latin typeface="Arial"/>
                          <a:ea typeface="Arial"/>
                          <a:cs typeface="Arial"/>
                        </a:rPr>
                        <a:t>2</a:t>
                      </a:r>
                    </a:p>
                  </a:txBody>
                  <a:tcPr marL="114300" marR="114300" marT="66675" marB="66675" anchor="ctr">
                    <a:solidFill>
                      <a:srgbClr val="FFFFFF"/>
                    </a:solidFill>
                  </a:tcPr>
                </a:tc>
                <a:tc>
                  <a:txBody>
                    <a:bodyPr wrap="square">
                      <a:noAutofit/>
                    </a:bodyPr>
                    <a:lstStyle/>
                    <a:p>
                      <a:pPr algn="l"/>
                      <a:r>
                        <a:rPr sz="1800" b="0">
                          <a:solidFill>
                            <a:srgbClr val="132A3C"/>
                          </a:solidFill>
                          <a:latin typeface="Arial"/>
                          <a:ea typeface="Arial"/>
                          <a:cs typeface="Arial"/>
                        </a:rPr>
                        <a:t>AA1 at 09:00</a:t>
                      </a:r>
                    </a:p>
                  </a:txBody>
                  <a:tcPr marL="114300" marR="114300" marT="66675" marB="66675" anchor="ctr">
                    <a:solidFill>
                      <a:srgbClr val="FFFFFF"/>
                    </a:solidFill>
                  </a:tcPr>
                </a:tc>
                <a:tc>
                  <a:txBody>
                    <a:bodyPr wrap="square">
                      <a:noAutofit/>
                    </a:bodyPr>
                    <a:lstStyle/>
                    <a:p>
                      <a:pPr algn="l"/>
                      <a:r>
                        <a:rPr sz="1800" b="0">
                          <a:solidFill>
                            <a:srgbClr val="132A3C"/>
                          </a:solidFill>
                          <a:latin typeface="Arial"/>
                          <a:ea typeface="Arial"/>
                          <a:cs typeface="Arial"/>
                        </a:rPr>
                        <a:t>ZZ1 at 12:00</a:t>
                      </a:r>
                    </a:p>
                  </a:txBody>
                  <a:tcPr marL="114300" marR="114300" marT="66675" marB="66675" anchor="ctr">
                    <a:solidFill>
                      <a:srgbClr val="FFFFFF"/>
                    </a:solidFill>
                  </a:tcPr>
                </a:tc>
              </a:tr>
            </a:tbl>
          </a:graphicData>
        </a:graphic>
      </p:graphicFrame>
      <p:sp>
        <p:nvSpPr>
          <p:cNvPr id="8" name="text-6">
            <a:extLst xmlns:a="http://schemas.openxmlformats.org/drawingml/2006/main">
              <a:ext uri="{FF2B5EF4-FFF2-40B4-BE49-F238E27FC236}">
                <a16:creationId xmlns:a16="http://schemas.microsoft.com/office/drawing/2014/main" id="{72F5CF09-B8A7-4DE8-8C06-068E6B959AE5}"/>
              </a:ext>
            </a:extLst>
          </p:cNvPr>
          <p:cNvSpPr>
            <a:spLocks xmlns:a="http://schemas.openxmlformats.org/drawingml/2006/main" noGrp="1"/>
          </p:cNvSpPr>
          <p:nvPr/>
        </p:nvSpPr>
        <p:spPr>
          <a:xfrm xmlns:a="http://schemas.openxmlformats.org/drawingml/2006/main">
            <a:off x="609600" y="591502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The array slots are copied. The Flight objects remain shared references.</a:t>
            </a:r>
          </a:p>
        </p:txBody>
      </p:sp>
    </p:spTree>
    <p:extLst>
      <p:ext uri="{BB962C8B-B14F-4D97-AF65-F5344CB8AC3E}">
        <p14:creationId xmlns:p14="http://schemas.microsoft.com/office/powerpoint/2010/main" val="949242553"/>
      </p:ext>
    </p:extLst>
  </p:cSld>
</p:sld>
</file>

<file path=ppt/slides/slide2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18E1EB4-32C3-40DA-ADF0-083F9D8B5557}"/>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Enhanced for-each and printing</a:t>
            </a:r>
          </a:p>
        </p:txBody>
      </p:sp>
      <p:sp>
        <p:nvSpPr>
          <p:cNvPr id="2" name="source">
            <a:extLst xmlns:a="http://schemas.openxmlformats.org/drawingml/2006/main">
              <a:ext uri="{FF2B5EF4-FFF2-40B4-BE49-F238E27FC236}">
                <a16:creationId xmlns:a16="http://schemas.microsoft.com/office/drawing/2014/main" id="{E0F172EF-E1DC-4EE8-9E56-248244167F77}"/>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AirportApp.printBoard   Code excerpt</a:t>
            </a:r>
          </a:p>
        </p:txBody>
      </p:sp>
      <p:sp>
        <p:nvSpPr>
          <p:cNvPr id="3" name="page-number">
            <a:extLst xmlns:a="http://schemas.openxmlformats.org/drawingml/2006/main">
              <a:ext uri="{FF2B5EF4-FFF2-40B4-BE49-F238E27FC236}">
                <a16:creationId xmlns:a16="http://schemas.microsoft.com/office/drawing/2014/main" id="{303B2E96-CE13-4259-8724-D8906E3624A4}"/>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21</a:t>
            </a:r>
          </a:p>
        </p:txBody>
      </p:sp>
      <p:sp>
        <p:nvSpPr>
          <p:cNvPr id="4" name="editable-code">
            <a:extLst xmlns:a="http://schemas.openxmlformats.org/drawingml/2006/main">
              <a:ext uri="{FF2B5EF4-FFF2-40B4-BE49-F238E27FC236}">
                <a16:creationId xmlns:a16="http://schemas.microsoft.com/office/drawing/2014/main" id="{E77F9FEF-64CB-4837-B053-1F1BFC992207}"/>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for (Flight flight : scheduler.getSortedFlights())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System.out.printf(</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"%-10s %-5s %-4s %-9s%n",</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flight.getNumber(),</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Flight.formatTime(flight.getExpectedMinutes()),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flight.getGate(),</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flight.getStatus());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a:t>
            </a:r>
          </a:p>
        </p:txBody>
      </p:sp>
      <p:sp>
        <p:nvSpPr>
          <p:cNvPr id="5" name="text-4">
            <a:extLst xmlns:a="http://schemas.openxmlformats.org/drawingml/2006/main">
              <a:ext uri="{FF2B5EF4-FFF2-40B4-BE49-F238E27FC236}">
                <a16:creationId xmlns:a16="http://schemas.microsoft.com/office/drawing/2014/main" id="{F42813E3-AEA2-4A6E-B025-7EA431707096}"/>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1D716213-3E7A-424C-B7FE-4D9C1C05B307}"/>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Display each record with consistent column widths.</a:t>
            </a:r>
          </a:p>
        </p:txBody>
      </p:sp>
      <p:sp>
        <p:nvSpPr>
          <p:cNvPr id="7" name="text-6">
            <a:extLst xmlns:a="http://schemas.openxmlformats.org/drawingml/2006/main">
              <a:ext uri="{FF2B5EF4-FFF2-40B4-BE49-F238E27FC236}">
                <a16:creationId xmlns:a16="http://schemas.microsoft.com/office/drawing/2014/main" id="{5B98F719-C5B2-49D7-8756-77E5AC77CACF}"/>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3F599CC1-87E6-432A-89F7-447586B33B73}"/>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%-10s: left-aligned text</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%-5s: time column</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%n: a new line</a:t>
            </a:r>
          </a:p>
        </p:txBody>
      </p:sp>
      <p:sp>
        <p:nvSpPr>
          <p:cNvPr id="9" name="takeaway">
            <a:extLst xmlns:a="http://schemas.openxmlformats.org/drawingml/2006/main">
              <a:ext uri="{FF2B5EF4-FFF2-40B4-BE49-F238E27FC236}">
                <a16:creationId xmlns:a16="http://schemas.microsoft.com/office/drawing/2014/main" id="{CE562872-02B8-4784-AA1F-6FFC28DEDCFF}"/>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The complete board also displays airline, origin and destination.</a:t>
            </a:r>
          </a:p>
        </p:txBody>
      </p:sp>
    </p:spTree>
    <p:extLst>
      <p:ext uri="{BB962C8B-B14F-4D97-AF65-F5344CB8AC3E}">
        <p14:creationId xmlns:p14="http://schemas.microsoft.com/office/powerpoint/2010/main" val="1317484279"/>
      </p:ext>
    </p:extLst>
  </p:cSld>
</p:sld>
</file>

<file path=ppt/slides/slide2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AD577612-11AA-4F4B-8A3F-57814257012C}"/>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Counting, average and typecasting</a:t>
            </a:r>
          </a:p>
        </p:txBody>
      </p:sp>
      <p:sp>
        <p:nvSpPr>
          <p:cNvPr id="2" name="source">
            <a:extLst xmlns:a="http://schemas.openxmlformats.org/drawingml/2006/main">
              <a:ext uri="{FF2B5EF4-FFF2-40B4-BE49-F238E27FC236}">
                <a16:creationId xmlns:a16="http://schemas.microsoft.com/office/drawing/2014/main" id="{3D6F3F8C-6304-4D64-BAF0-EBB2D276F6F9}"/>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AirportApp.printSummary   Code excerpt</a:t>
            </a:r>
          </a:p>
        </p:txBody>
      </p:sp>
      <p:sp>
        <p:nvSpPr>
          <p:cNvPr id="3" name="page-number">
            <a:extLst xmlns:a="http://schemas.openxmlformats.org/drawingml/2006/main">
              <a:ext uri="{FF2B5EF4-FFF2-40B4-BE49-F238E27FC236}">
                <a16:creationId xmlns:a16="http://schemas.microsoft.com/office/drawing/2014/main" id="{13DACA8E-7804-4695-BB26-5407AC3342ED}"/>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22</a:t>
            </a:r>
          </a:p>
        </p:txBody>
      </p:sp>
      <p:sp>
        <p:nvSpPr>
          <p:cNvPr id="4" name="text-3">
            <a:extLst xmlns:a="http://schemas.openxmlformats.org/drawingml/2006/main">
              <a:ext uri="{FF2B5EF4-FFF2-40B4-BE49-F238E27FC236}">
                <a16:creationId xmlns:a16="http://schemas.microsoft.com/office/drawing/2014/main" id="{1448C24E-D811-4005-9EF4-CBCF36176AF5}"/>
              </a:ext>
            </a:extLst>
          </p:cNvPr>
          <p:cNvSpPr>
            <a:spLocks xmlns:a="http://schemas.openxmlformats.org/drawingml/2006/main" noGrp="1"/>
          </p:cNvSpPr>
          <p:nvPr/>
        </p:nvSpPr>
        <p:spPr>
          <a:xfrm xmlns:a="http://schemas.openxmlformats.org/drawingml/2006/main">
            <a:off x="609600" y="1485900"/>
            <a:ext cx="6619875" cy="3552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3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int active = 0;</a:t>
            </a:r>
          </a:p>
          <a:p xmlns:a="http://schemas.openxmlformats.org/drawingml/2006/main">
            <a:pPr algn="l">
              <a:lnSpc>
                <a:spcPct val="113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int totalDelay = 0;</a:t>
            </a:r>
          </a:p>
          <a:p xmlns:a="http://schemas.openxmlformats.org/drawingml/2006/main">
            <a:pPr algn="l">
              <a:lnSpc>
                <a:spcPct val="113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for (Flight f : scheduler.getSortedFlights()) {</a:t>
            </a:r>
          </a:p>
          <a:p xmlns:a="http://schemas.openxmlformats.org/drawingml/2006/main">
            <a:pPr algn="l">
              <a:lnSpc>
                <a:spcPct val="113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if (f.isActive()) {</a:t>
            </a:r>
          </a:p>
          <a:p xmlns:a="http://schemas.openxmlformats.org/drawingml/2006/main">
            <a:pPr algn="l">
              <a:lnSpc>
                <a:spcPct val="113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active++;</a:t>
            </a:r>
          </a:p>
          <a:p xmlns:a="http://schemas.openxmlformats.org/drawingml/2006/main">
            <a:pPr algn="l">
              <a:lnSpc>
                <a:spcPct val="113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totalDelay += f.getDelayMinutes();</a:t>
            </a:r>
          </a:p>
          <a:p xmlns:a="http://schemas.openxmlformats.org/drawingml/2006/main">
            <a:pPr algn="l">
              <a:lnSpc>
                <a:spcPct val="113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a:t>
            </a:r>
          </a:p>
          <a:p xmlns:a="http://schemas.openxmlformats.org/drawingml/2006/main">
            <a:pPr algn="l">
              <a:lnSpc>
                <a:spcPct val="113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a:t>
            </a:r>
          </a:p>
          <a:p xmlns:a="http://schemas.openxmlformats.org/drawingml/2006/main">
            <a:pPr algn="l">
              <a:lnSpc>
                <a:spcPct val="113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double averageDelay = 0.0;</a:t>
            </a:r>
          </a:p>
          <a:p xmlns:a="http://schemas.openxmlformats.org/drawingml/2006/main">
            <a:pPr algn="l">
              <a:lnSpc>
                <a:spcPct val="113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if (active &gt; 0) {</a:t>
            </a:r>
          </a:p>
          <a:p xmlns:a="http://schemas.openxmlformats.org/drawingml/2006/main">
            <a:pPr algn="l">
              <a:lnSpc>
                <a:spcPct val="113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averageDelay = (double) totalDelay / active;</a:t>
            </a:r>
          </a:p>
          <a:p xmlns:a="http://schemas.openxmlformats.org/drawingml/2006/main">
            <a:pPr algn="l">
              <a:lnSpc>
                <a:spcPct val="113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a:t>
            </a:r>
          </a:p>
        </p:txBody>
      </p:sp>
      <p:graphicFrame>
        <p:nvGraphicFramePr>
          <p:cNvPr id="12" name="Chart"/>
          <p:cNvGraphicFramePr/>
          <p:nvPr/>
        </p:nvGraphicFramePr>
        <p:xfrm>
          <a:off xmlns:a="http://schemas.openxmlformats.org/drawingml/2006/main" x="7667625" y="1476375"/>
          <a:ext xmlns:a="http://schemas.openxmlformats.org/drawingml/2006/main" cx="3895725" cy="3486150"/>
        </p:xfrm>
        <a:graphic xmlns:a="http://schemas.openxmlformats.org/drawingml/2006/main">
          <a:graphicData uri="http://schemas.openxmlformats.org/drawingml/2006/chart">
            <c:chart xmlns:r="http://schemas.openxmlformats.org/officeDocument/2006/relationships" xmlns:c="http://schemas.openxmlformats.org/drawingml/2006/chart" r:id="R7a0ad51ca1c044c2"/>
          </a:graphicData>
        </a:graphic>
      </p:graphicFrame>
      <p:sp>
        <p:nvSpPr>
          <p:cNvPr id="6" name="text-4">
            <a:extLst xmlns:a="http://schemas.openxmlformats.org/drawingml/2006/main">
              <a:ext uri="{FF2B5EF4-FFF2-40B4-BE49-F238E27FC236}">
                <a16:creationId xmlns:a16="http://schemas.microsoft.com/office/drawing/2014/main" id="{688E309E-E544-4474-AE79-FC0C786A2CBD}"/>
              </a:ext>
            </a:extLst>
          </p:cNvPr>
          <p:cNvSpPr>
            <a:spLocks xmlns:a="http://schemas.openxmlformats.org/drawingml/2006/main" noGrp="1"/>
          </p:cNvSpPr>
          <p:nvPr/>
        </p:nvSpPr>
        <p:spPr>
          <a:xfrm xmlns:a="http://schemas.openxmlformats.org/drawingml/2006/main">
            <a:off x="7696200" y="5219700"/>
            <a:ext cx="3857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526878"/>
                </a:solidFill>
                <a:latin typeface="Arial"/>
                <a:ea typeface="Arial"/>
                <a:cs typeface="Arial"/>
              </a:defRPr>
            </a:pPr>
            <a:r>
              <a:rPr sz="1800" b="0">
                <a:solidFill>
                  <a:srgbClr val="526878"/>
                </a:solidFill>
                <a:latin typeface="Arial"/>
                <a:ea typeface="Arial"/>
                <a:cs typeface="Arial"/>
              </a:rPr>
              <a:t>Sample counts from the six stored records</a:t>
            </a:r>
          </a:p>
        </p:txBody>
      </p:sp>
      <p:sp>
        <p:nvSpPr>
          <p:cNvPr id="7" name="text-5">
            <a:extLst xmlns:a="http://schemas.openxmlformats.org/drawingml/2006/main">
              <a:ext uri="{FF2B5EF4-FFF2-40B4-BE49-F238E27FC236}">
                <a16:creationId xmlns:a16="http://schemas.microsoft.com/office/drawing/2014/main" id="{734E8DA2-AB58-40BC-A6EE-88D962706380}"/>
              </a:ext>
            </a:extLst>
          </p:cNvPr>
          <p:cNvSpPr>
            <a:spLocks xmlns:a="http://schemas.openxmlformats.org/drawingml/2006/main" noGrp="1"/>
          </p:cNvSpPr>
          <p:nvPr/>
        </p:nvSpPr>
        <p:spPr>
          <a:xfrm xmlns:a="http://schemas.openxmlformats.org/drawingml/2006/main">
            <a:off x="609600" y="59721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15 delay minutes across 4 active flights gives an average of 3.75 minutes.</a:t>
            </a:r>
          </a:p>
        </p:txBody>
      </p:sp>
    </p:spTree>
    <p:extLst>
      <p:ext uri="{BB962C8B-B14F-4D97-AF65-F5344CB8AC3E}">
        <p14:creationId xmlns:p14="http://schemas.microsoft.com/office/powerpoint/2010/main" val="2110877718"/>
      </p:ext>
    </p:extLst>
  </p:cSld>
</p:sld>
</file>

<file path=ppt/slides/slide2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6A20513C-1074-4B3A-94FC-A7EA4AE44B9F}"/>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toString and readable search output</a:t>
            </a:r>
          </a:p>
        </p:txBody>
      </p:sp>
      <p:sp>
        <p:nvSpPr>
          <p:cNvPr id="2" name="source">
            <a:extLst xmlns:a="http://schemas.openxmlformats.org/drawingml/2006/main">
              <a:ext uri="{FF2B5EF4-FFF2-40B4-BE49-F238E27FC236}">
                <a16:creationId xmlns:a16="http://schemas.microsoft.com/office/drawing/2014/main" id="{7DE00F35-FE07-4999-8357-AC39696711B3}"/>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Flight.toString and AirportApp.findFlight   Code excerpt</a:t>
            </a:r>
          </a:p>
        </p:txBody>
      </p:sp>
      <p:sp>
        <p:nvSpPr>
          <p:cNvPr id="3" name="page-number">
            <a:extLst xmlns:a="http://schemas.openxmlformats.org/drawingml/2006/main">
              <a:ext uri="{FF2B5EF4-FFF2-40B4-BE49-F238E27FC236}">
                <a16:creationId xmlns:a16="http://schemas.microsoft.com/office/drawing/2014/main" id="{9D7515B5-E1F4-4FCB-B6F4-CDDBB8129B86}"/>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23</a:t>
            </a:r>
          </a:p>
        </p:txBody>
      </p:sp>
      <p:sp>
        <p:nvSpPr>
          <p:cNvPr id="4" name="editable-code">
            <a:extLst xmlns:a="http://schemas.openxmlformats.org/drawingml/2006/main">
              <a:ext uri="{FF2B5EF4-FFF2-40B4-BE49-F238E27FC236}">
                <a16:creationId xmlns:a16="http://schemas.microsoft.com/office/drawing/2014/main" id="{0445F530-690C-42FB-B507-C2F1C4D6F9EC}"/>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@Override</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public String toString()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return number + " | " + airline</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 " | " + origin + " -&gt; " + destination</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 " | Scheduled " + formatTime(scheduledMinutes)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 " | Expected " + formatTime(expectedMinutes)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 " | Gate " + gate + " | " + status;</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a:t>
            </a:r>
          </a:p>
          <a:p xmlns:a="http://schemas.openxmlformats.org/drawingml/2006/main">
            <a:r>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System.out.println(found);</a:t>
            </a:r>
          </a:p>
        </p:txBody>
      </p:sp>
      <p:sp>
        <p:nvSpPr>
          <p:cNvPr id="5" name="text-4">
            <a:extLst xmlns:a="http://schemas.openxmlformats.org/drawingml/2006/main">
              <a:ext uri="{FF2B5EF4-FFF2-40B4-BE49-F238E27FC236}">
                <a16:creationId xmlns:a16="http://schemas.microsoft.com/office/drawing/2014/main" id="{E1893EDA-8AC7-417F-809F-F739AF367F4E}"/>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E4C29451-9958-4BEC-8DF0-3235344B9988}"/>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Show a useful object description when a record is found.</a:t>
            </a:r>
          </a:p>
        </p:txBody>
      </p:sp>
      <p:sp>
        <p:nvSpPr>
          <p:cNvPr id="7" name="text-6">
            <a:extLst xmlns:a="http://schemas.openxmlformats.org/drawingml/2006/main">
              <a:ext uri="{FF2B5EF4-FFF2-40B4-BE49-F238E27FC236}">
                <a16:creationId xmlns:a16="http://schemas.microsoft.com/office/drawing/2014/main" id="{79429B2A-1DAB-4359-90E7-1D9E0FBB46B0}"/>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2DACC81C-8249-4621-881F-2F8959A57140}"/>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Printing found calls</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the Flight toString()</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method.</a:t>
            </a:r>
          </a:p>
        </p:txBody>
      </p:sp>
      <p:sp>
        <p:nvSpPr>
          <p:cNvPr id="9" name="takeaway">
            <a:extLst xmlns:a="http://schemas.openxmlformats.org/drawingml/2006/main">
              <a:ext uri="{FF2B5EF4-FFF2-40B4-BE49-F238E27FC236}">
                <a16:creationId xmlns:a16="http://schemas.microsoft.com/office/drawing/2014/main" id="{151EA160-A41C-4178-A6FC-227CE28CA762}"/>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toString overrides the representation inherited from Object.</a:t>
            </a:r>
          </a:p>
        </p:txBody>
      </p:sp>
    </p:spTree>
    <p:extLst>
      <p:ext uri="{BB962C8B-B14F-4D97-AF65-F5344CB8AC3E}">
        <p14:creationId xmlns:p14="http://schemas.microsoft.com/office/powerpoint/2010/main" val="420989780"/>
      </p:ext>
    </p:extLst>
  </p:cSld>
</p:sld>
</file>

<file path=ppt/slides/slide2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89705C0C-25B5-414A-BDFF-5F233D584B4E}"/>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File reading and record parsing</a:t>
            </a:r>
          </a:p>
        </p:txBody>
      </p:sp>
      <p:sp>
        <p:nvSpPr>
          <p:cNvPr id="2" name="source">
            <a:extLst xmlns:a="http://schemas.openxmlformats.org/drawingml/2006/main">
              <a:ext uri="{FF2B5EF4-FFF2-40B4-BE49-F238E27FC236}">
                <a16:creationId xmlns:a16="http://schemas.microsoft.com/office/drawing/2014/main" id="{ECA41ACC-25F6-42AB-8287-A7B29FE32C2F}"/>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FlightFileStore.load   Code excerpt</a:t>
            </a:r>
          </a:p>
        </p:txBody>
      </p:sp>
      <p:sp>
        <p:nvSpPr>
          <p:cNvPr id="3" name="page-number">
            <a:extLst xmlns:a="http://schemas.openxmlformats.org/drawingml/2006/main">
              <a:ext uri="{FF2B5EF4-FFF2-40B4-BE49-F238E27FC236}">
                <a16:creationId xmlns:a16="http://schemas.microsoft.com/office/drawing/2014/main" id="{7977774B-60AA-4E3B-8A65-2F034B6531AF}"/>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24</a:t>
            </a:r>
          </a:p>
        </p:txBody>
      </p:sp>
      <p:sp>
        <p:nvSpPr>
          <p:cNvPr id="4" name="editable-code">
            <a:extLst xmlns:a="http://schemas.openxmlformats.org/drawingml/2006/main">
              <a:ext uri="{FF2B5EF4-FFF2-40B4-BE49-F238E27FC236}">
                <a16:creationId xmlns:a16="http://schemas.microsoft.com/office/drawing/2014/main" id="{FB83185D-610D-40D6-A286-040C8E62F633}"/>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try (BufferedReader reader = Files.newBufferedReader(</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file, StandardCharsets.UTF_8)) {</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if (!HEADER.equals(reader.readLine())) {</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throw new IOException("Invalid header.");</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String line;</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while ((line = reader.readLine()) != null) {</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String[] fields = line.split("\\|", -1);</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 Validate, construct a Flight and add it.</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a:t>
            </a:r>
          </a:p>
        </p:txBody>
      </p:sp>
      <p:sp>
        <p:nvSpPr>
          <p:cNvPr id="5" name="text-4">
            <a:extLst xmlns:a="http://schemas.openxmlformats.org/drawingml/2006/main">
              <a:ext uri="{FF2B5EF4-FFF2-40B4-BE49-F238E27FC236}">
                <a16:creationId xmlns:a16="http://schemas.microsoft.com/office/drawing/2014/main" id="{C9904C9F-A8FE-465A-BD71-817C2AA2FE24}"/>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D64BA580-CADE-40BE-949F-5DA42501B27E}"/>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Restore records and identify malformed lines.</a:t>
            </a:r>
          </a:p>
        </p:txBody>
      </p:sp>
      <p:sp>
        <p:nvSpPr>
          <p:cNvPr id="7" name="text-6">
            <a:extLst xmlns:a="http://schemas.openxmlformats.org/drawingml/2006/main">
              <a:ext uri="{FF2B5EF4-FFF2-40B4-BE49-F238E27FC236}">
                <a16:creationId xmlns:a16="http://schemas.microsoft.com/office/drawing/2014/main" id="{721D5B2C-79BC-4474-86C0-6F962DE255E2}"/>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7F0ED088-120B-4748-AC38-F84012019D4A}"/>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One text line</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contains eight fields</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separated by a pipe.</a:t>
            </a:r>
          </a:p>
        </p:txBody>
      </p:sp>
      <p:sp>
        <p:nvSpPr>
          <p:cNvPr id="9" name="takeaway">
            <a:extLst xmlns:a="http://schemas.openxmlformats.org/drawingml/2006/main">
              <a:ext uri="{FF2B5EF4-FFF2-40B4-BE49-F238E27FC236}">
                <a16:creationId xmlns:a16="http://schemas.microsoft.com/office/drawing/2014/main" id="{30B4BC5C-D830-434E-A13D-604AD14451F8}"/>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The complete loader validates every record before accepting the board.</a:t>
            </a:r>
          </a:p>
        </p:txBody>
      </p:sp>
    </p:spTree>
    <p:extLst>
      <p:ext uri="{BB962C8B-B14F-4D97-AF65-F5344CB8AC3E}">
        <p14:creationId xmlns:p14="http://schemas.microsoft.com/office/powerpoint/2010/main" val="603282062"/>
      </p:ext>
    </p:extLst>
  </p:cSld>
</p:sld>
</file>

<file path=ppt/slides/slide2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E81691D2-8302-4B8A-A868-62C1CB5903B4}"/>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File writing and resource management</a:t>
            </a:r>
          </a:p>
        </p:txBody>
      </p:sp>
      <p:sp>
        <p:nvSpPr>
          <p:cNvPr id="2" name="source">
            <a:extLst xmlns:a="http://schemas.openxmlformats.org/drawingml/2006/main">
              <a:ext uri="{FF2B5EF4-FFF2-40B4-BE49-F238E27FC236}">
                <a16:creationId xmlns:a16="http://schemas.microsoft.com/office/drawing/2014/main" id="{70579CBF-2717-469A-A3F0-B3E4C085941E}"/>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FlightFileStore.save   Code excerpt</a:t>
            </a:r>
          </a:p>
        </p:txBody>
      </p:sp>
      <p:sp>
        <p:nvSpPr>
          <p:cNvPr id="3" name="page-number">
            <a:extLst xmlns:a="http://schemas.openxmlformats.org/drawingml/2006/main">
              <a:ext uri="{FF2B5EF4-FFF2-40B4-BE49-F238E27FC236}">
                <a16:creationId xmlns:a16="http://schemas.microsoft.com/office/drawing/2014/main" id="{861DBF2F-1099-4B5A-8075-BA3D5C37ED0F}"/>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25</a:t>
            </a:r>
          </a:p>
        </p:txBody>
      </p:sp>
      <p:sp>
        <p:nvSpPr>
          <p:cNvPr id="4" name="editable-code">
            <a:extLst xmlns:a="http://schemas.openxmlformats.org/drawingml/2006/main">
              <a:ext uri="{FF2B5EF4-FFF2-40B4-BE49-F238E27FC236}">
                <a16:creationId xmlns:a16="http://schemas.microsoft.com/office/drawing/2014/main" id="{D501CA01-BD02-45D0-9998-0057B9416A0E}"/>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try {</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try (BufferedWriter writer = Files.newBufferedWriter(</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temporary, StandardCharsets.UTF_8)) {</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writer.write(HEADER);</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writer.newLine();</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 String.join builds each eight-field record.</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Files.move(temporary, target,</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StandardCopyOption.REPLACE_EXISTING);</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finally {</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Files.deleteIfExists(temporary);</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a:t>
            </a:r>
          </a:p>
        </p:txBody>
      </p:sp>
      <p:sp>
        <p:nvSpPr>
          <p:cNvPr id="5" name="text-4">
            <a:extLst xmlns:a="http://schemas.openxmlformats.org/drawingml/2006/main">
              <a:ext uri="{FF2B5EF4-FFF2-40B4-BE49-F238E27FC236}">
                <a16:creationId xmlns:a16="http://schemas.microsoft.com/office/drawing/2014/main" id="{CCBB0D8A-7235-48E0-AD80-62965234DBFC}"/>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CB0EC8F6-6663-4860-B210-CCB182287FDD}"/>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Write the current snapshot and close resources reliably.</a:t>
            </a:r>
          </a:p>
        </p:txBody>
      </p:sp>
      <p:sp>
        <p:nvSpPr>
          <p:cNvPr id="7" name="text-6">
            <a:extLst xmlns:a="http://schemas.openxmlformats.org/drawingml/2006/main">
              <a:ext uri="{FF2B5EF4-FFF2-40B4-BE49-F238E27FC236}">
                <a16:creationId xmlns:a16="http://schemas.microsoft.com/office/drawing/2014/main" id="{C5CA88EB-01FD-4538-9CA2-B84BCFCF73B5}"/>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EBDAEF0C-6FB7-4381-B2F1-D4D5760340C5}"/>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Write a temporary file.</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Close the writer.</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Replace the destination.</a:t>
            </a:r>
          </a:p>
        </p:txBody>
      </p:sp>
      <p:sp>
        <p:nvSpPr>
          <p:cNvPr id="9" name="takeaway">
            <a:extLst xmlns:a="http://schemas.openxmlformats.org/drawingml/2006/main">
              <a:ext uri="{FF2B5EF4-FFF2-40B4-BE49-F238E27FC236}">
                <a16:creationId xmlns:a16="http://schemas.microsoft.com/office/drawing/2014/main" id="{9F9C9F6C-510A-41A6-8466-9D7FEB17E7C6}"/>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The program saves one current record per flight rather than appending updates.</a:t>
            </a:r>
          </a:p>
        </p:txBody>
      </p:sp>
    </p:spTree>
    <p:extLst>
      <p:ext uri="{BB962C8B-B14F-4D97-AF65-F5344CB8AC3E}">
        <p14:creationId xmlns:p14="http://schemas.microsoft.com/office/powerpoint/2010/main" val="2078247041"/>
      </p:ext>
    </p:extLst>
  </p:cSld>
</p:sld>
</file>

<file path=ppt/slides/slide2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01A485B-0303-487B-931B-8A964CD4F38B}"/>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try-catch and checked exceptions</a:t>
            </a:r>
          </a:p>
        </p:txBody>
      </p:sp>
      <p:sp>
        <p:nvSpPr>
          <p:cNvPr id="2" name="source">
            <a:extLst xmlns:a="http://schemas.openxmlformats.org/drawingml/2006/main">
              <a:ext uri="{FF2B5EF4-FFF2-40B4-BE49-F238E27FC236}">
                <a16:creationId xmlns:a16="http://schemas.microsoft.com/office/drawing/2014/main" id="{FD8A1DCD-1974-4B87-B0CE-ED8F0A41CCFB}"/>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AirportApp.save   Code excerpt</a:t>
            </a:r>
          </a:p>
        </p:txBody>
      </p:sp>
      <p:sp>
        <p:nvSpPr>
          <p:cNvPr id="3" name="page-number">
            <a:extLst xmlns:a="http://schemas.openxmlformats.org/drawingml/2006/main">
              <a:ext uri="{FF2B5EF4-FFF2-40B4-BE49-F238E27FC236}">
                <a16:creationId xmlns:a16="http://schemas.microsoft.com/office/drawing/2014/main" id="{6F62B79E-FD0C-441A-83AB-4E3879B52AFA}"/>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26</a:t>
            </a:r>
          </a:p>
        </p:txBody>
      </p:sp>
      <p:sp>
        <p:nvSpPr>
          <p:cNvPr id="4" name="editable-code">
            <a:extLst xmlns:a="http://schemas.openxmlformats.org/drawingml/2006/main">
              <a:ext uri="{FF2B5EF4-FFF2-40B4-BE49-F238E27FC236}">
                <a16:creationId xmlns:a16="http://schemas.microsoft.com/office/drawing/2014/main" id="{8CE0DEA2-F5A2-44FD-9010-20CD5A9E944A}"/>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try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FlightFileStore.save(file, scheduler);</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System.out.println("Saved.");</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return true;</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catch (IOException exception)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System.out.println("Save failed: "</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 exception.getMessage());</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    return false;</a:t>
            </a:r>
          </a:p>
          <a:p xmlns:a="http://schemas.openxmlformats.org/drawingml/2006/main">
            <a:pPr algn="l">
              <a:lnSpc>
                <a:spcPct val="114000"/>
              </a:lnSpc>
              <a:buNone/>
              <a:defRPr sz="1800" b="0">
                <a:solidFill>
                  <a:srgbClr val="132A3C"/>
                </a:solidFill>
                <a:latin typeface="Consolas"/>
                <a:ea typeface="Consolas"/>
                <a:cs typeface="Consolas"/>
              </a:defRPr>
            </a:pPr>
            <a:r>
              <a:rPr sz="1800" b="0">
                <a:solidFill>
                  <a:srgbClr val="132A3C"/>
                </a:solidFill>
                <a:latin typeface="Consolas"/>
                <a:ea typeface="Consolas"/>
                <a:cs typeface="Consolas"/>
              </a:rPr>
              <a:t>}</a:t>
            </a:r>
          </a:p>
        </p:txBody>
      </p:sp>
      <p:sp>
        <p:nvSpPr>
          <p:cNvPr id="5" name="text-4">
            <a:extLst xmlns:a="http://schemas.openxmlformats.org/drawingml/2006/main">
              <a:ext uri="{FF2B5EF4-FFF2-40B4-BE49-F238E27FC236}">
                <a16:creationId xmlns:a16="http://schemas.microsoft.com/office/drawing/2014/main" id="{B365B8C7-6281-45AE-8CBB-E20012EF1FB5}"/>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4DC09D6E-80D5-4811-84DE-9C3F68C893D6}"/>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Report an I/O failure and allow a retry.</a:t>
            </a:r>
          </a:p>
        </p:txBody>
      </p:sp>
      <p:sp>
        <p:nvSpPr>
          <p:cNvPr id="7" name="text-6">
            <a:extLst xmlns:a="http://schemas.openxmlformats.org/drawingml/2006/main">
              <a:ext uri="{FF2B5EF4-FFF2-40B4-BE49-F238E27FC236}">
                <a16:creationId xmlns:a16="http://schemas.microsoft.com/office/drawing/2014/main" id="{C0F82A83-E82F-4245-8719-B7CC7241B5A1}"/>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08B5E57B-BC9F-4AA5-A19A-25FF6B2026BC}"/>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File failure: checked</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Invalid gate: unchecked</a:t>
            </a:r>
          </a:p>
        </p:txBody>
      </p:sp>
      <p:sp>
        <p:nvSpPr>
          <p:cNvPr id="9" name="takeaway">
            <a:extLst xmlns:a="http://schemas.openxmlformats.org/drawingml/2006/main">
              <a:ext uri="{FF2B5EF4-FFF2-40B4-BE49-F238E27FC236}">
                <a16:creationId xmlns:a16="http://schemas.microsoft.com/office/drawing/2014/main" id="{F300DB59-3597-438D-85BB-AF10E32C826E}"/>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Normal exit continues only after a successful save.</a:t>
            </a:r>
          </a:p>
        </p:txBody>
      </p:sp>
    </p:spTree>
    <p:extLst>
      <p:ext uri="{BB962C8B-B14F-4D97-AF65-F5344CB8AC3E}">
        <p14:creationId xmlns:p14="http://schemas.microsoft.com/office/powerpoint/2010/main" val="1707882875"/>
      </p:ext>
    </p:extLst>
  </p:cSld>
</p:sld>
</file>

<file path=ppt/slides/slide2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8CE8D820-9841-4CC2-812C-64C43F47A18F}"/>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main, switch and the menu loop</a:t>
            </a:r>
          </a:p>
        </p:txBody>
      </p:sp>
      <p:sp>
        <p:nvSpPr>
          <p:cNvPr id="2" name="source">
            <a:extLst xmlns:a="http://schemas.openxmlformats.org/drawingml/2006/main">
              <a:ext uri="{FF2B5EF4-FFF2-40B4-BE49-F238E27FC236}">
                <a16:creationId xmlns:a16="http://schemas.microsoft.com/office/drawing/2014/main" id="{33B81104-F026-40E8-A94B-C0377FF3A279}"/>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526878"/>
                </a:solidFill>
                <a:latin typeface="Arial"/>
                <a:ea typeface="Arial"/>
                <a:cs typeface="Arial"/>
              </a:defRPr>
            </a:pPr>
            <a:r>
              <a:rPr sz="1125" b="0">
                <a:solidFill>
                  <a:srgbClr val="526878"/>
                </a:solidFill>
                <a:latin typeface="Arial"/>
                <a:ea typeface="Arial"/>
                <a:cs typeface="Arial"/>
              </a:rPr>
              <a:t>AirportApp.main   Code excerpt</a:t>
            </a:r>
          </a:p>
        </p:txBody>
      </p:sp>
      <p:sp>
        <p:nvSpPr>
          <p:cNvPr id="3" name="page-number">
            <a:extLst xmlns:a="http://schemas.openxmlformats.org/drawingml/2006/main">
              <a:ext uri="{FF2B5EF4-FFF2-40B4-BE49-F238E27FC236}">
                <a16:creationId xmlns:a16="http://schemas.microsoft.com/office/drawing/2014/main" id="{A0741551-1A19-445D-9FBE-5438A31DAA18}"/>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27</a:t>
            </a:r>
          </a:p>
        </p:txBody>
      </p:sp>
      <p:sp>
        <p:nvSpPr>
          <p:cNvPr id="4" name="editable-code">
            <a:extLst xmlns:a="http://schemas.openxmlformats.org/drawingml/2006/main">
              <a:ext uri="{FF2B5EF4-FFF2-40B4-BE49-F238E27FC236}">
                <a16:creationId xmlns:a16="http://schemas.microsoft.com/office/drawing/2014/main" id="{E3A7EBB0-1A01-4868-A6A8-608CE1EB1A6F}"/>
              </a:ext>
            </a:extLst>
          </p:cNvPr>
          <p:cNvSpPr>
            <a:spLocks xmlns:a="http://schemas.openxmlformats.org/drawingml/2006/main" noGrp="1"/>
          </p:cNvSpPr>
          <p:nvPr/>
        </p:nvSpPr>
        <p:spPr>
          <a:xfrm xmlns:a="http://schemas.openxmlformats.org/drawingml/2006/main">
            <a:off x="609600" y="1466850"/>
            <a:ext cx="80200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while (running) {</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switch (input.readInt("Choose: ", 0, 8)) {</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case 1:</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printBoard(scheduler); break;</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case 8:</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save(file, scheduler); break;</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case 0:</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if (save(file, scheduler)) running = false;</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break;</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default:</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System.out.println("Other menu operation.");</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    }</a:t>
            </a:r>
          </a:p>
          <a:p xmlns:a="http://schemas.openxmlformats.org/drawingml/2006/main">
            <a:pPr algn="l">
              <a:lnSpc>
                <a:spcPct val="114000"/>
              </a:lnSpc>
              <a:buNone/>
              <a:defRPr sz="1725" b="0">
                <a:solidFill>
                  <a:srgbClr val="132A3C"/>
                </a:solidFill>
                <a:latin typeface="Consolas"/>
                <a:ea typeface="Consolas"/>
                <a:cs typeface="Consolas"/>
              </a:defRPr>
            </a:pPr>
            <a:r>
              <a:rPr sz="1725" b="0">
                <a:solidFill>
                  <a:srgbClr val="132A3C"/>
                </a:solidFill>
                <a:latin typeface="Consolas"/>
                <a:ea typeface="Consolas"/>
                <a:cs typeface="Consolas"/>
              </a:rPr>
              <a:t>}</a:t>
            </a:r>
          </a:p>
        </p:txBody>
      </p:sp>
      <p:sp>
        <p:nvSpPr>
          <p:cNvPr id="5" name="text-4">
            <a:extLst xmlns:a="http://schemas.openxmlformats.org/drawingml/2006/main">
              <a:ext uri="{FF2B5EF4-FFF2-40B4-BE49-F238E27FC236}">
                <a16:creationId xmlns:a16="http://schemas.microsoft.com/office/drawing/2014/main" id="{B2581BAE-9BE7-4E58-B611-7E67542E897F}"/>
              </a:ext>
            </a:extLst>
          </p:cNvPr>
          <p:cNvSpPr>
            <a:spLocks xmlns:a="http://schemas.openxmlformats.org/drawingml/2006/main" noGrp="1"/>
          </p:cNvSpPr>
          <p:nvPr/>
        </p:nvSpPr>
        <p:spPr>
          <a:xfrm xmlns:a="http://schemas.openxmlformats.org/drawingml/2006/main">
            <a:off x="9058275" y="1485900"/>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Why used</a:t>
            </a:r>
          </a:p>
        </p:txBody>
      </p:sp>
      <p:sp>
        <p:nvSpPr>
          <p:cNvPr id="6" name="why-used">
            <a:extLst xmlns:a="http://schemas.openxmlformats.org/drawingml/2006/main">
              <a:ext uri="{FF2B5EF4-FFF2-40B4-BE49-F238E27FC236}">
                <a16:creationId xmlns:a16="http://schemas.microsoft.com/office/drawing/2014/main" id="{41F0AAAB-9AE1-41C0-8C5B-65A3CEFA5D0D}"/>
              </a:ext>
            </a:extLst>
          </p:cNvPr>
          <p:cNvSpPr>
            <a:spLocks xmlns:a="http://schemas.openxmlformats.org/drawingml/2006/main" noGrp="1"/>
          </p:cNvSpPr>
          <p:nvPr/>
        </p:nvSpPr>
        <p:spPr>
          <a:xfrm xmlns:a="http://schemas.openxmlformats.org/drawingml/2006/main">
            <a:off x="9058275" y="1924050"/>
            <a:ext cx="25050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Connect operations and repeat until the operator exits.</a:t>
            </a:r>
          </a:p>
        </p:txBody>
      </p:sp>
      <p:sp>
        <p:nvSpPr>
          <p:cNvPr id="7" name="text-6">
            <a:extLst xmlns:a="http://schemas.openxmlformats.org/drawingml/2006/main">
              <a:ext uri="{FF2B5EF4-FFF2-40B4-BE49-F238E27FC236}">
                <a16:creationId xmlns:a16="http://schemas.microsoft.com/office/drawing/2014/main" id="{09AE37E5-E7C1-4366-9461-10D74499F074}"/>
              </a:ext>
            </a:extLst>
          </p:cNvPr>
          <p:cNvSpPr>
            <a:spLocks xmlns:a="http://schemas.openxmlformats.org/drawingml/2006/main" noGrp="1"/>
          </p:cNvSpPr>
          <p:nvPr/>
        </p:nvSpPr>
        <p:spPr>
          <a:xfrm xmlns:a="http://schemas.openxmlformats.org/drawingml/2006/main">
            <a:off x="9058275" y="3743325"/>
            <a:ext cx="250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Example</a:t>
            </a:r>
          </a:p>
        </p:txBody>
      </p:sp>
      <p:sp>
        <p:nvSpPr>
          <p:cNvPr id="8" name="worked-example">
            <a:extLst xmlns:a="http://schemas.openxmlformats.org/drawingml/2006/main">
              <a:ext uri="{FF2B5EF4-FFF2-40B4-BE49-F238E27FC236}">
                <a16:creationId xmlns:a16="http://schemas.microsoft.com/office/drawing/2014/main" id="{AA9A3CF8-539B-4DA2-862C-89807CEF18B6}"/>
              </a:ext>
            </a:extLst>
          </p:cNvPr>
          <p:cNvSpPr>
            <a:spLocks xmlns:a="http://schemas.openxmlformats.org/drawingml/2006/main" noGrp="1"/>
          </p:cNvSpPr>
          <p:nvPr/>
        </p:nvSpPr>
        <p:spPr>
          <a:xfrm xmlns:a="http://schemas.openxmlformats.org/drawingml/2006/main">
            <a:off x="9058275" y="4191000"/>
            <a:ext cx="25050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1: show the board</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8: save</a:t>
            </a:r>
          </a:p>
          <a:p xmlns:a="http://schemas.openxmlformats.org/drawingml/2006/main">
            <a:pPr algn="l">
              <a:lnSpc>
                <a:spcPct val="115000"/>
              </a:lnSpc>
              <a:buNone/>
              <a:defRPr sz="1800" b="0">
                <a:solidFill>
                  <a:srgbClr val="132A3C"/>
                </a:solidFill>
                <a:latin typeface="Arial"/>
                <a:ea typeface="Arial"/>
                <a:cs typeface="Arial"/>
              </a:defRPr>
            </a:pPr>
            <a:r>
              <a:rPr sz="1800" b="0">
                <a:solidFill>
                  <a:srgbClr val="132A3C"/>
                </a:solidFill>
                <a:latin typeface="Arial"/>
                <a:ea typeface="Arial"/>
                <a:cs typeface="Arial"/>
              </a:rPr>
              <a:t>0: save and exit</a:t>
            </a:r>
          </a:p>
        </p:txBody>
      </p:sp>
      <p:sp>
        <p:nvSpPr>
          <p:cNvPr id="9" name="takeaway">
            <a:extLst xmlns:a="http://schemas.openxmlformats.org/drawingml/2006/main">
              <a:ext uri="{FF2B5EF4-FFF2-40B4-BE49-F238E27FC236}">
                <a16:creationId xmlns:a16="http://schemas.microsoft.com/office/drawing/2014/main" id="{E45E34C0-3E6A-46C0-9EEF-544137C49D07}"/>
              </a:ext>
            </a:extLst>
          </p:cNvPr>
          <p:cNvSpPr>
            <a:spLocks xmlns:a="http://schemas.openxmlformats.org/drawingml/2006/main" noGrp="1"/>
          </p:cNvSpPr>
          <p:nvPr/>
        </p:nvSpPr>
        <p:spPr>
          <a:xfrm xmlns:a="http://schemas.openxmlformats.org/drawingml/2006/main">
            <a:off x="609600" y="58102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007D85"/>
                </a:solidFill>
                <a:latin typeface="Arial"/>
                <a:ea typeface="Arial"/>
                <a:cs typeface="Arial"/>
              </a:defRPr>
            </a:pPr>
            <a:r>
              <a:rPr sz="1950" b="1">
                <a:solidFill>
                  <a:srgbClr val="007D85"/>
                </a:solidFill>
                <a:latin typeface="Arial"/>
                <a:ea typeface="Arial"/>
                <a:cs typeface="Arial"/>
              </a:rPr>
              <a:t>break prevents case fall-through. The running flag controls the loop.</a:t>
            </a:r>
          </a:p>
        </p:txBody>
      </p:sp>
    </p:spTree>
    <p:extLst>
      <p:ext uri="{BB962C8B-B14F-4D97-AF65-F5344CB8AC3E}">
        <p14:creationId xmlns:p14="http://schemas.microsoft.com/office/powerpoint/2010/main" val="1893966044"/>
      </p:ext>
    </p:extLst>
  </p:cSld>
</p:sld>
</file>

<file path=ppt/slides/slide2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FFCFC65-EEB2-4106-9DDE-F599B23000AA}"/>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Topics left out and the reasons</a:t>
            </a:r>
          </a:p>
        </p:txBody>
      </p:sp>
      <p:sp>
        <p:nvSpPr>
          <p:cNvPr id="2" name="page-number">
            <a:extLst xmlns:a="http://schemas.openxmlformats.org/drawingml/2006/main">
              <a:ext uri="{FF2B5EF4-FFF2-40B4-BE49-F238E27FC236}">
                <a16:creationId xmlns:a16="http://schemas.microsoft.com/office/drawing/2014/main" id="{1B301B86-E32B-49B3-A1DD-C0E5E57FDEFB}"/>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28</a:t>
            </a:r>
          </a:p>
        </p:txBody>
      </p:sp>
      <p:graphicFrame>
        <p:nvGraphicFramePr>
          <p:cNvPr id="7" name=""/>
          <p:cNvGraphicFramePr/>
          <p:nvPr/>
        </p:nvGraphicFramePr>
        <p:xfrm>
          <a:off xmlns:a="http://schemas.openxmlformats.org/drawingml/2006/main" x="609600" y="1590675"/>
          <a:ext xmlns:a="http://schemas.openxmlformats.org/drawingml/2006/main" cx="10972800" cy="4314825"/>
        </p:xfrm>
        <a:graphic xmlns:a="http://schemas.openxmlformats.org/drawingml/2006/main">
          <a:graphicData uri="http://schemas.openxmlformats.org/drawingml/2006/table">
            <a:tbl>
              <a:tblPr firstRow="1" bandRow="0"/>
              <a:tblGrid>
                <a:gridCol w="4152900"/>
                <a:gridCol w="6819900"/>
              </a:tblGrid>
              <a:tr h="479425">
                <a:tc>
                  <a:txBody>
                    <a:bodyPr wrap="square">
                      <a:noAutofit/>
                    </a:bodyPr>
                    <a:lstStyle/>
                    <a:p>
                      <a:pPr algn="l"/>
                      <a:r>
                        <a:rPr sz="1725" b="1">
                          <a:solidFill>
                            <a:srgbClr val="FFFFFF"/>
                          </a:solidFill>
                          <a:latin typeface="Arial"/>
                          <a:ea typeface="Arial"/>
                          <a:cs typeface="Arial"/>
                        </a:rPr>
                        <a:t>Topic</a:t>
                      </a:r>
                    </a:p>
                  </a:txBody>
                  <a:tcPr marL="114300" marR="114300" marT="66675" marB="66675" anchor="ctr">
                    <a:solidFill>
                      <a:srgbClr val="052035"/>
                    </a:solidFill>
                  </a:tcPr>
                </a:tc>
                <a:tc>
                  <a:txBody>
                    <a:bodyPr wrap="square">
                      <a:noAutofit/>
                    </a:bodyPr>
                    <a:lstStyle/>
                    <a:p>
                      <a:pPr algn="l"/>
                      <a:r>
                        <a:rPr sz="1725" b="1">
                          <a:solidFill>
                            <a:srgbClr val="FFFFFF"/>
                          </a:solidFill>
                          <a:latin typeface="Arial"/>
                          <a:ea typeface="Arial"/>
                          <a:cs typeface="Arial"/>
                        </a:rPr>
                        <a:t>Reason for leaving it out</a:t>
                      </a:r>
                    </a:p>
                  </a:txBody>
                  <a:tcPr marL="114300" marR="114300" marT="66675" marB="66675" anchor="ctr">
                    <a:solidFill>
                      <a:srgbClr val="052035"/>
                    </a:solidFill>
                  </a:tcPr>
                </a:tc>
              </a:tr>
              <a:tr h="479425">
                <a:tc>
                  <a:txBody>
                    <a:bodyPr wrap="square">
                      <a:noAutofit/>
                    </a:bodyPr>
                    <a:lstStyle/>
                    <a:p>
                      <a:pPr algn="l"/>
                      <a:r>
                        <a:rPr sz="1725" b="0">
                          <a:solidFill>
                            <a:srgbClr val="132A3C"/>
                          </a:solidFill>
                          <a:latin typeface="Arial"/>
                          <a:ea typeface="Arial"/>
                          <a:cs typeface="Arial"/>
                        </a:rPr>
                        <a:t>Recursion</a:t>
                      </a:r>
                    </a:p>
                  </a:txBody>
                  <a:tcPr marL="114300" marR="114300" marT="66675" marB="66675" anchor="ctr">
                    <a:solidFill>
                      <a:srgbClr val="FFFFFF"/>
                    </a:solidFill>
                  </a:tcPr>
                </a:tc>
                <a:tc>
                  <a:txBody>
                    <a:bodyPr wrap="square">
                      <a:noAutofit/>
                    </a:bodyPr>
                    <a:lstStyle/>
                    <a:p>
                      <a:pPr algn="l"/>
                      <a:r>
                        <a:rPr sz="1725" b="0">
                          <a:solidFill>
                            <a:srgbClr val="132A3C"/>
                          </a:solidFill>
                          <a:latin typeface="Arial"/>
                          <a:ea typeface="Arial"/>
                          <a:cs typeface="Arial"/>
                        </a:rPr>
                        <a:t>The board is flat and uses iterative scans.</a:t>
                      </a:r>
                    </a:p>
                  </a:txBody>
                  <a:tcPr marL="114300" marR="114300" marT="66675" marB="66675" anchor="ctr">
                    <a:solidFill>
                      <a:srgbClr val="FFFFFF"/>
                    </a:solidFill>
                  </a:tcPr>
                </a:tc>
              </a:tr>
              <a:tr h="479425">
                <a:tc>
                  <a:txBody>
                    <a:bodyPr wrap="square">
                      <a:noAutofit/>
                    </a:bodyPr>
                    <a:lstStyle/>
                    <a:p>
                      <a:pPr algn="l"/>
                      <a:r>
                        <a:rPr sz="1725" b="0">
                          <a:solidFill>
                            <a:srgbClr val="132A3C"/>
                          </a:solidFill>
                          <a:latin typeface="Arial"/>
                          <a:ea typeface="Arial"/>
                          <a:cs typeface="Arial"/>
                        </a:rPr>
                        <a:t>2D arrays and matrix arithmetic</a:t>
                      </a:r>
                    </a:p>
                  </a:txBody>
                  <a:tcPr marL="114300" marR="114300" marT="66675" marB="66675" anchor="ctr">
                    <a:solidFill>
                      <a:srgbClr val="EDF3F8"/>
                    </a:solidFill>
                  </a:tcPr>
                </a:tc>
                <a:tc>
                  <a:txBody>
                    <a:bodyPr wrap="square">
                      <a:noAutofit/>
                    </a:bodyPr>
                    <a:lstStyle/>
                    <a:p>
                      <a:pPr algn="l"/>
                      <a:r>
                        <a:rPr sz="1725" b="0">
                          <a:solidFill>
                            <a:srgbClr val="132A3C"/>
                          </a:solidFill>
                          <a:latin typeface="Arial"/>
                          <a:ea typeface="Arial"/>
                          <a:cs typeface="Arial"/>
                        </a:rPr>
                        <a:t>Flight objects have named fields, not matrix values.</a:t>
                      </a:r>
                    </a:p>
                  </a:txBody>
                  <a:tcPr marL="114300" marR="114300" marT="66675" marB="66675" anchor="ctr">
                    <a:solidFill>
                      <a:srgbClr val="EDF3F8"/>
                    </a:solidFill>
                  </a:tcPr>
                </a:tc>
              </a:tr>
              <a:tr h="479425">
                <a:tc>
                  <a:txBody>
                    <a:bodyPr wrap="square">
                      <a:noAutofit/>
                    </a:bodyPr>
                    <a:lstStyle/>
                    <a:p>
                      <a:pPr algn="l"/>
                      <a:r>
                        <a:rPr sz="1725" b="0">
                          <a:solidFill>
                            <a:srgbClr val="132A3C"/>
                          </a:solidFill>
                          <a:latin typeface="Arial"/>
                          <a:ea typeface="Arial"/>
                          <a:cs typeface="Arial"/>
                        </a:rPr>
                        <a:t>Bitwise operators</a:t>
                      </a:r>
                    </a:p>
                  </a:txBody>
                  <a:tcPr marL="114300" marR="114300" marT="66675" marB="66675" anchor="ctr">
                    <a:solidFill>
                      <a:srgbClr val="FFFFFF"/>
                    </a:solidFill>
                  </a:tcPr>
                </a:tc>
                <a:tc>
                  <a:txBody>
                    <a:bodyPr wrap="square">
                      <a:noAutofit/>
                    </a:bodyPr>
                    <a:lstStyle/>
                    <a:p>
                      <a:pPr algn="l"/>
                      <a:r>
                        <a:rPr sz="1725" b="0">
                          <a:solidFill>
                            <a:srgbClr val="132A3C"/>
                          </a:solidFill>
                          <a:latin typeface="Arial"/>
                          <a:ea typeface="Arial"/>
                          <a:cs typeface="Arial"/>
                        </a:rPr>
                        <a:t>The program has no packed binary flags.</a:t>
                      </a:r>
                    </a:p>
                  </a:txBody>
                  <a:tcPr marL="114300" marR="114300" marT="66675" marB="66675" anchor="ctr">
                    <a:solidFill>
                      <a:srgbClr val="FFFFFF"/>
                    </a:solidFill>
                  </a:tcPr>
                </a:tc>
              </a:tr>
              <a:tr h="479425">
                <a:tc>
                  <a:txBody>
                    <a:bodyPr wrap="square">
                      <a:noAutofit/>
                    </a:bodyPr>
                    <a:lstStyle/>
                    <a:p>
                      <a:pPr algn="l"/>
                      <a:r>
                        <a:rPr sz="1725" b="0">
                          <a:solidFill>
                            <a:srgbClr val="132A3C"/>
                          </a:solidFill>
                          <a:latin typeface="Arial"/>
                          <a:ea typeface="Arial"/>
                          <a:cs typeface="Arial"/>
                        </a:rPr>
                        <a:t>Custom class inheritance</a:t>
                      </a:r>
                    </a:p>
                  </a:txBody>
                  <a:tcPr marL="114300" marR="114300" marT="66675" marB="66675" anchor="ctr">
                    <a:solidFill>
                      <a:srgbClr val="EDF3F8"/>
                    </a:solidFill>
                  </a:tcPr>
                </a:tc>
                <a:tc>
                  <a:txBody>
                    <a:bodyPr wrap="square">
                      <a:noAutofit/>
                    </a:bodyPr>
                    <a:lstStyle/>
                    <a:p>
                      <a:pPr algn="l"/>
                      <a:r>
                        <a:rPr sz="1725" b="0">
                          <a:solidFill>
                            <a:srgbClr val="132A3C"/>
                          </a:solidFill>
                          <a:latin typeface="Arial"/>
                          <a:ea typeface="Arial"/>
                          <a:cs typeface="Arial"/>
                        </a:rPr>
                        <a:t>No flight subtype needs different behavior.</a:t>
                      </a:r>
                    </a:p>
                  </a:txBody>
                  <a:tcPr marL="114300" marR="114300" marT="66675" marB="66675" anchor="ctr">
                    <a:solidFill>
                      <a:srgbClr val="EDF3F8"/>
                    </a:solidFill>
                  </a:tcPr>
                </a:tc>
              </a:tr>
              <a:tr h="479425">
                <a:tc>
                  <a:txBody>
                    <a:bodyPr wrap="square">
                      <a:noAutofit/>
                    </a:bodyPr>
                    <a:lstStyle/>
                    <a:p>
                      <a:pPr algn="l"/>
                      <a:r>
                        <a:rPr sz="1725" b="0">
                          <a:solidFill>
                            <a:srgbClr val="132A3C"/>
                          </a:solidFill>
                          <a:latin typeface="Arial"/>
                          <a:ea typeface="Arial"/>
                          <a:cs typeface="Arial"/>
                        </a:rPr>
                        <a:t>Method or constructor overloading</a:t>
                      </a:r>
                    </a:p>
                  </a:txBody>
                  <a:tcPr marL="114300" marR="114300" marT="66675" marB="66675" anchor="ctr">
                    <a:solidFill>
                      <a:srgbClr val="FFFFFF"/>
                    </a:solidFill>
                  </a:tcPr>
                </a:tc>
                <a:tc>
                  <a:txBody>
                    <a:bodyPr wrap="square">
                      <a:noAutofit/>
                    </a:bodyPr>
                    <a:lstStyle/>
                    <a:p>
                      <a:pPr algn="l"/>
                      <a:r>
                        <a:rPr sz="1725" b="0">
                          <a:solidFill>
                            <a:srgbClr val="132A3C"/>
                          </a:solidFill>
                          <a:latin typeface="Arial"/>
                          <a:ea typeface="Arial"/>
                          <a:cs typeface="Arial"/>
                        </a:rPr>
                        <a:t>One signature per operation is sufficient.</a:t>
                      </a:r>
                    </a:p>
                  </a:txBody>
                  <a:tcPr marL="114300" marR="114300" marT="66675" marB="66675" anchor="ctr">
                    <a:solidFill>
                      <a:srgbClr val="FFFFFF"/>
                    </a:solidFill>
                  </a:tcPr>
                </a:tc>
              </a:tr>
              <a:tr h="479425">
                <a:tc>
                  <a:txBody>
                    <a:bodyPr wrap="square">
                      <a:noAutofit/>
                    </a:bodyPr>
                    <a:lstStyle/>
                    <a:p>
                      <a:pPr algn="l"/>
                      <a:r>
                        <a:rPr sz="1725" b="0">
                          <a:solidFill>
                            <a:srgbClr val="132A3C"/>
                          </a:solidFill>
                          <a:latin typeface="Arial"/>
                          <a:ea typeface="Arial"/>
                          <a:cs typeface="Arial"/>
                        </a:rPr>
                        <a:t>StringBuilder and StringBuffer</a:t>
                      </a:r>
                    </a:p>
                  </a:txBody>
                  <a:tcPr marL="114300" marR="114300" marT="66675" marB="66675" anchor="ctr">
                    <a:solidFill>
                      <a:srgbClr val="EDF3F8"/>
                    </a:solidFill>
                  </a:tcPr>
                </a:tc>
                <a:tc>
                  <a:txBody>
                    <a:bodyPr wrap="square">
                      <a:noAutofit/>
                    </a:bodyPr>
                    <a:lstStyle/>
                    <a:p>
                      <a:pPr algn="l"/>
                      <a:r>
                        <a:rPr sz="1725" b="0">
                          <a:solidFill>
                            <a:srgbClr val="132A3C"/>
                          </a:solidFill>
                          <a:latin typeface="Arial"/>
                          <a:ea typeface="Arial"/>
                          <a:cs typeface="Arial"/>
                        </a:rPr>
                        <a:t>Messages are short and the program uses one thread.</a:t>
                      </a:r>
                    </a:p>
                  </a:txBody>
                  <a:tcPr marL="114300" marR="114300" marT="66675" marB="66675" anchor="ctr">
                    <a:solidFill>
                      <a:srgbClr val="EDF3F8"/>
                    </a:solidFill>
                  </a:tcPr>
                </a:tc>
              </a:tr>
              <a:tr h="479425">
                <a:tc>
                  <a:txBody>
                    <a:bodyPr wrap="square">
                      <a:noAutofit/>
                    </a:bodyPr>
                    <a:lstStyle/>
                    <a:p>
                      <a:pPr algn="l"/>
                      <a:r>
                        <a:rPr sz="1725" b="0">
                          <a:solidFill>
                            <a:srgbClr val="132A3C"/>
                          </a:solidFill>
                          <a:latin typeface="Arial"/>
                          <a:ea typeface="Arial"/>
                          <a:cs typeface="Arial"/>
                        </a:rPr>
                        <a:t>Collections.sort</a:t>
                      </a:r>
                    </a:p>
                  </a:txBody>
                  <a:tcPr marL="114300" marR="114300" marT="66675" marB="66675" anchor="ctr">
                    <a:solidFill>
                      <a:srgbClr val="FFFFFF"/>
                    </a:solidFill>
                  </a:tcPr>
                </a:tc>
                <a:tc>
                  <a:txBody>
                    <a:bodyPr wrap="square">
                      <a:noAutofit/>
                    </a:bodyPr>
                    <a:lstStyle/>
                    <a:p>
                      <a:pPr algn="l"/>
                      <a:r>
                        <a:rPr sz="1725" b="0">
                          <a:solidFill>
                            <a:srgbClr val="132A3C"/>
                          </a:solidFill>
                          <a:latin typeface="Arial"/>
                          <a:ea typeface="Arial"/>
                          <a:cs typeface="Arial"/>
                        </a:rPr>
                        <a:t>The storage is an array rather than a List.</a:t>
                      </a:r>
                    </a:p>
                  </a:txBody>
                  <a:tcPr marL="114300" marR="114300" marT="66675" marB="66675" anchor="ctr">
                    <a:solidFill>
                      <a:srgbClr val="FFFFFF"/>
                    </a:solidFill>
                  </a:tcPr>
                </a:tc>
              </a:tr>
              <a:tr h="479425">
                <a:tc>
                  <a:txBody>
                    <a:bodyPr wrap="square">
                      <a:noAutofit/>
                    </a:bodyPr>
                    <a:lstStyle/>
                    <a:p>
                      <a:pPr algn="l"/>
                      <a:r>
                        <a:rPr sz="1725" b="0">
                          <a:solidFill>
                            <a:srgbClr val="132A3C"/>
                          </a:solidFill>
                          <a:latin typeface="Arial"/>
                          <a:ea typeface="Arial"/>
                          <a:cs typeface="Arial"/>
                        </a:rPr>
                        <a:t>Arrays.binarySearch</a:t>
                      </a:r>
                    </a:p>
                  </a:txBody>
                  <a:tcPr marL="114300" marR="114300" marT="66675" marB="66675" anchor="ctr">
                    <a:solidFill>
                      <a:srgbClr val="EDF3F8"/>
                    </a:solidFill>
                  </a:tcPr>
                </a:tc>
                <a:tc>
                  <a:txBody>
                    <a:bodyPr wrap="square">
                      <a:noAutofit/>
                    </a:bodyPr>
                    <a:lstStyle/>
                    <a:p>
                      <a:pPr algn="l"/>
                      <a:r>
                        <a:rPr sz="1725" b="0">
                          <a:solidFill>
                            <a:srgbClr val="132A3C"/>
                          </a:solidFill>
                          <a:latin typeface="Arial"/>
                          <a:ea typeface="Arial"/>
                          <a:cs typeface="Arial"/>
                        </a:rPr>
                        <a:t>Time order differs from flight-number search order.</a:t>
                      </a:r>
                    </a:p>
                  </a:txBody>
                  <a:tcPr marL="114300" marR="114300" marT="66675" marB="66675" anchor="ctr">
                    <a:solidFill>
                      <a:srgbClr val="EDF3F8"/>
                    </a:solidFill>
                  </a:tcPr>
                </a:tc>
              </a:tr>
            </a:tbl>
          </a:graphicData>
        </a:graphic>
      </p:graphicFrame>
      <p:sp>
        <p:nvSpPr>
          <p:cNvPr id="4" name="text-2">
            <a:extLst xmlns:a="http://schemas.openxmlformats.org/drawingml/2006/main">
              <a:ext uri="{FF2B5EF4-FFF2-40B4-BE49-F238E27FC236}">
                <a16:creationId xmlns:a16="http://schemas.microsoft.com/office/drawing/2014/main" id="{817F11EF-B239-43DE-88AF-0450171ADB9D}"/>
              </a:ext>
            </a:extLst>
          </p:cNvPr>
          <p:cNvSpPr>
            <a:spLocks xmlns:a="http://schemas.openxmlformats.org/drawingml/2006/main" noGrp="1"/>
          </p:cNvSpPr>
          <p:nvPr/>
        </p:nvSpPr>
        <p:spPr>
          <a:xfrm xmlns:a="http://schemas.openxmlformats.org/drawingml/2006/main">
            <a:off x="609600" y="61245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Each selected topic solves a specific project requirement.</a:t>
            </a:r>
          </a:p>
        </p:txBody>
      </p:sp>
    </p:spTree>
    <p:extLst>
      <p:ext uri="{BB962C8B-B14F-4D97-AF65-F5344CB8AC3E}">
        <p14:creationId xmlns:p14="http://schemas.microsoft.com/office/powerpoint/2010/main" val="299365641"/>
      </p:ext>
    </p:extLst>
  </p:cSld>
</p:sld>
</file>

<file path=ppt/slides/slide2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55877722-5444-4993-B203-93CBCC3B1A0E}"/>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Project demonstration sequence</a:t>
            </a:r>
          </a:p>
        </p:txBody>
      </p:sp>
      <p:sp>
        <p:nvSpPr>
          <p:cNvPr id="2" name="page-number">
            <a:extLst xmlns:a="http://schemas.openxmlformats.org/drawingml/2006/main">
              <a:ext uri="{FF2B5EF4-FFF2-40B4-BE49-F238E27FC236}">
                <a16:creationId xmlns:a16="http://schemas.microsoft.com/office/drawing/2014/main" id="{92EC80CA-09DF-4339-8067-1B4CD3D6D93D}"/>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29</a:t>
            </a:r>
          </a:p>
        </p:txBody>
      </p:sp>
      <p:graphicFrame>
        <p:nvGraphicFramePr>
          <p:cNvPr id="7" name=""/>
          <p:cNvGraphicFramePr/>
          <p:nvPr/>
        </p:nvGraphicFramePr>
        <p:xfrm>
          <a:off xmlns:a="http://schemas.openxmlformats.org/drawingml/2006/main" x="609600" y="1600200"/>
          <a:ext xmlns:a="http://schemas.openxmlformats.org/drawingml/2006/main" cx="10972800" cy="4133850"/>
        </p:xfrm>
        <a:graphic xmlns:a="http://schemas.openxmlformats.org/drawingml/2006/main">
          <a:graphicData uri="http://schemas.openxmlformats.org/drawingml/2006/table">
            <a:tbl>
              <a:tblPr firstRow="1" bandRow="0"/>
              <a:tblGrid>
                <a:gridCol w="4705350"/>
                <a:gridCol w="6267450"/>
              </a:tblGrid>
              <a:tr h="516731">
                <a:tc>
                  <a:txBody>
                    <a:bodyPr wrap="square">
                      <a:noAutofit/>
                    </a:bodyPr>
                    <a:lstStyle/>
                    <a:p>
                      <a:pPr algn="l"/>
                      <a:r>
                        <a:rPr sz="1725" b="1">
                          <a:solidFill>
                            <a:srgbClr val="FFFFFF"/>
                          </a:solidFill>
                          <a:latin typeface="Arial"/>
                          <a:ea typeface="Arial"/>
                          <a:cs typeface="Arial"/>
                        </a:rPr>
                        <a:t>Action</a:t>
                      </a:r>
                    </a:p>
                  </a:txBody>
                  <a:tcPr marL="114300" marR="114300" marT="66675" marB="66675" anchor="ctr">
                    <a:solidFill>
                      <a:srgbClr val="052035"/>
                    </a:solidFill>
                  </a:tcPr>
                </a:tc>
                <a:tc>
                  <a:txBody>
                    <a:bodyPr wrap="square">
                      <a:noAutofit/>
                    </a:bodyPr>
                    <a:lstStyle/>
                    <a:p>
                      <a:pPr algn="l"/>
                      <a:r>
                        <a:rPr sz="1725" b="1">
                          <a:solidFill>
                            <a:srgbClr val="FFFFFF"/>
                          </a:solidFill>
                          <a:latin typeface="Arial"/>
                          <a:ea typeface="Arial"/>
                          <a:cs typeface="Arial"/>
                        </a:rPr>
                        <a:t>Expected result</a:t>
                      </a:r>
                    </a:p>
                  </a:txBody>
                  <a:tcPr marL="114300" marR="114300" marT="66675" marB="66675" anchor="ctr">
                    <a:solidFill>
                      <a:srgbClr val="052035"/>
                    </a:solidFill>
                  </a:tcPr>
                </a:tc>
              </a:tr>
              <a:tr h="516731">
                <a:tc>
                  <a:txBody>
                    <a:bodyPr wrap="square">
                      <a:noAutofit/>
                    </a:bodyPr>
                    <a:lstStyle/>
                    <a:p>
                      <a:pPr algn="l"/>
                      <a:r>
                        <a:rPr sz="1725" b="0">
                          <a:solidFill>
                            <a:srgbClr val="132A3C"/>
                          </a:solidFill>
                          <a:latin typeface="Arial"/>
                          <a:ea typeface="Arial"/>
                          <a:cs typeface="Arial"/>
                        </a:rPr>
                        <a:t>Search 6e101</a:t>
                      </a:r>
                    </a:p>
                  </a:txBody>
                  <a:tcPr marL="114300" marR="114300" marT="66675" marB="66675" anchor="ctr">
                    <a:solidFill>
                      <a:srgbClr val="FFFFFF"/>
                    </a:solidFill>
                  </a:tcPr>
                </a:tc>
                <a:tc>
                  <a:txBody>
                    <a:bodyPr wrap="square">
                      <a:noAutofit/>
                    </a:bodyPr>
                    <a:lstStyle/>
                    <a:p>
                      <a:pPr algn="l"/>
                      <a:r>
                        <a:rPr sz="1725" b="0">
                          <a:solidFill>
                            <a:srgbClr val="132A3C"/>
                          </a:solidFill>
                          <a:latin typeface="Arial"/>
                          <a:ea typeface="Arial"/>
                          <a:cs typeface="Arial"/>
                        </a:rPr>
                        <a:t>Find 6E101 after case normalization.</a:t>
                      </a:r>
                    </a:p>
                  </a:txBody>
                  <a:tcPr marL="114300" marR="114300" marT="66675" marB="66675" anchor="ctr">
                    <a:solidFill>
                      <a:srgbClr val="FFFFFF"/>
                    </a:solidFill>
                  </a:tcPr>
                </a:tc>
              </a:tr>
              <a:tr h="516731">
                <a:tc>
                  <a:txBody>
                    <a:bodyPr wrap="square">
                      <a:noAutofit/>
                    </a:bodyPr>
                    <a:lstStyle/>
                    <a:p>
                      <a:pPr algn="l"/>
                      <a:r>
                        <a:rPr sz="1725" b="0">
                          <a:solidFill>
                            <a:srgbClr val="132A3C"/>
                          </a:solidFill>
                          <a:latin typeface="Arial"/>
                          <a:ea typeface="Arial"/>
                          <a:cs typeface="Arial"/>
                        </a:rPr>
                        <a:t>Set total delay to 30 minutes</a:t>
                      </a:r>
                    </a:p>
                  </a:txBody>
                  <a:tcPr marL="114300" marR="114300" marT="66675" marB="66675" anchor="ctr">
                    <a:solidFill>
                      <a:srgbClr val="EDF3F8"/>
                    </a:solidFill>
                  </a:tcPr>
                </a:tc>
                <a:tc>
                  <a:txBody>
                    <a:bodyPr wrap="square">
                      <a:noAutofit/>
                    </a:bodyPr>
                    <a:lstStyle/>
                    <a:p>
                      <a:pPr algn="l"/>
                      <a:r>
                        <a:rPr sz="1725" b="0">
                          <a:solidFill>
                            <a:srgbClr val="132A3C"/>
                          </a:solidFill>
                          <a:latin typeface="Arial"/>
                          <a:ea typeface="Arial"/>
                          <a:cs typeface="Arial"/>
                        </a:rPr>
                        <a:t>Reject the clash with AI202 at A1.</a:t>
                      </a:r>
                    </a:p>
                  </a:txBody>
                  <a:tcPr marL="114300" marR="114300" marT="66675" marB="66675" anchor="ctr">
                    <a:solidFill>
                      <a:srgbClr val="EDF3F8"/>
                    </a:solidFill>
                  </a:tcPr>
                </a:tc>
              </a:tr>
              <a:tr h="516731">
                <a:tc>
                  <a:txBody>
                    <a:bodyPr wrap="square">
                      <a:noAutofit/>
                    </a:bodyPr>
                    <a:lstStyle/>
                    <a:p>
                      <a:pPr algn="l"/>
                      <a:r>
                        <a:rPr sz="1725" b="0">
                          <a:solidFill>
                            <a:srgbClr val="132A3C"/>
                          </a:solidFill>
                          <a:latin typeface="Arial"/>
                          <a:ea typeface="Arial"/>
                          <a:cs typeface="Arial"/>
                        </a:rPr>
                        <a:t>Set total delay to 10 minutes</a:t>
                      </a:r>
                    </a:p>
                  </a:txBody>
                  <a:tcPr marL="114300" marR="114300" marT="66675" marB="66675" anchor="ctr">
                    <a:solidFill>
                      <a:srgbClr val="FFFFFF"/>
                    </a:solidFill>
                  </a:tcPr>
                </a:tc>
                <a:tc>
                  <a:txBody>
                    <a:bodyPr wrap="square">
                      <a:noAutofit/>
                    </a:bodyPr>
                    <a:lstStyle/>
                    <a:p>
                      <a:pPr algn="l"/>
                      <a:r>
                        <a:rPr sz="1725" b="0">
                          <a:solidFill>
                            <a:srgbClr val="132A3C"/>
                          </a:solidFill>
                          <a:latin typeface="Arial"/>
                          <a:ea typeface="Arial"/>
                          <a:cs typeface="Arial"/>
                        </a:rPr>
                        <a:t>Accept 09:10 and mark DELAYED.</a:t>
                      </a:r>
                    </a:p>
                  </a:txBody>
                  <a:tcPr marL="114300" marR="114300" marT="66675" marB="66675" anchor="ctr">
                    <a:solidFill>
                      <a:srgbClr val="FFFFFF"/>
                    </a:solidFill>
                  </a:tcPr>
                </a:tc>
              </a:tr>
              <a:tr h="516731">
                <a:tc>
                  <a:txBody>
                    <a:bodyPr wrap="square">
                      <a:noAutofit/>
                    </a:bodyPr>
                    <a:lstStyle/>
                    <a:p>
                      <a:pPr algn="l"/>
                      <a:r>
                        <a:rPr sz="1725" b="0">
                          <a:solidFill>
                            <a:srgbClr val="132A3C"/>
                          </a:solidFill>
                          <a:latin typeface="Arial"/>
                          <a:ea typeface="Arial"/>
                          <a:cs typeface="Arial"/>
                        </a:rPr>
                        <a:t>Move 6E101 to B1 and mark BOARDING</a:t>
                      </a:r>
                    </a:p>
                  </a:txBody>
                  <a:tcPr marL="114300" marR="114300" marT="66675" marB="66675" anchor="ctr">
                    <a:solidFill>
                      <a:srgbClr val="EDF3F8"/>
                    </a:solidFill>
                  </a:tcPr>
                </a:tc>
                <a:tc>
                  <a:txBody>
                    <a:bodyPr wrap="square">
                      <a:noAutofit/>
                    </a:bodyPr>
                    <a:lstStyle/>
                    <a:p>
                      <a:pPr algn="l"/>
                      <a:r>
                        <a:rPr sz="1725" b="0">
                          <a:solidFill>
                            <a:srgbClr val="132A3C"/>
                          </a:solidFill>
                          <a:latin typeface="Arial"/>
                          <a:ea typeface="Arial"/>
                          <a:cs typeface="Arial"/>
                        </a:rPr>
                        <a:t>Keep the 10-minute delay and validate the new gate.</a:t>
                      </a:r>
                    </a:p>
                  </a:txBody>
                  <a:tcPr marL="114300" marR="114300" marT="66675" marB="66675" anchor="ctr">
                    <a:solidFill>
                      <a:srgbClr val="EDF3F8"/>
                    </a:solidFill>
                  </a:tcPr>
                </a:tc>
              </a:tr>
              <a:tr h="516731">
                <a:tc>
                  <a:txBody>
                    <a:bodyPr wrap="square">
                      <a:noAutofit/>
                    </a:bodyPr>
                    <a:lstStyle/>
                    <a:p>
                      <a:pPr algn="l"/>
                      <a:r>
                        <a:rPr sz="1725" b="0">
                          <a:solidFill>
                            <a:srgbClr val="132A3C"/>
                          </a:solidFill>
                          <a:latin typeface="Arial"/>
                          <a:ea typeface="Arial"/>
                          <a:cs typeface="Arial"/>
                        </a:rPr>
                        <a:t>Add SG707 at 12:00 on C1</a:t>
                      </a:r>
                    </a:p>
                  </a:txBody>
                  <a:tcPr marL="114300" marR="114300" marT="66675" marB="66675" anchor="ctr">
                    <a:solidFill>
                      <a:srgbClr val="FFFFFF"/>
                    </a:solidFill>
                  </a:tcPr>
                </a:tc>
                <a:tc>
                  <a:txBody>
                    <a:bodyPr wrap="square">
                      <a:noAutofit/>
                    </a:bodyPr>
                    <a:lstStyle/>
                    <a:p>
                      <a:pPr algn="l"/>
                      <a:r>
                        <a:rPr sz="1725" b="0">
                          <a:solidFill>
                            <a:srgbClr val="132A3C"/>
                          </a:solidFill>
                          <a:latin typeface="Arial"/>
                          <a:ea typeface="Arial"/>
                          <a:cs typeface="Arial"/>
                        </a:rPr>
                        <a:t>Store the seventh record.</a:t>
                      </a:r>
                    </a:p>
                  </a:txBody>
                  <a:tcPr marL="114300" marR="114300" marT="66675" marB="66675" anchor="ctr">
                    <a:solidFill>
                      <a:srgbClr val="FFFFFF"/>
                    </a:solidFill>
                  </a:tcPr>
                </a:tc>
              </a:tr>
              <a:tr h="516731">
                <a:tc>
                  <a:txBody>
                    <a:bodyPr wrap="square">
                      <a:noAutofit/>
                    </a:bodyPr>
                    <a:lstStyle/>
                    <a:p>
                      <a:pPr algn="l"/>
                      <a:r>
                        <a:rPr sz="1725" b="0">
                          <a:solidFill>
                            <a:srgbClr val="132A3C"/>
                          </a:solidFill>
                          <a:latin typeface="Arial"/>
                          <a:ea typeface="Arial"/>
                          <a:cs typeface="Arial"/>
                        </a:rPr>
                        <a:t>Show summary</a:t>
                      </a:r>
                    </a:p>
                  </a:txBody>
                  <a:tcPr marL="114300" marR="114300" marT="66675" marB="66675" anchor="ctr">
                    <a:solidFill>
                      <a:srgbClr val="EDF3F8"/>
                    </a:solidFill>
                  </a:tcPr>
                </a:tc>
                <a:tc>
                  <a:txBody>
                    <a:bodyPr wrap="square">
                      <a:noAutofit/>
                    </a:bodyPr>
                    <a:lstStyle/>
                    <a:p>
                      <a:pPr algn="l"/>
                      <a:r>
                        <a:rPr sz="1725" b="0">
                          <a:solidFill>
                            <a:srgbClr val="132A3C"/>
                          </a:solidFill>
                          <a:latin typeface="Arial"/>
                          <a:ea typeface="Arial"/>
                          <a:cs typeface="Arial"/>
                        </a:rPr>
                        <a:t>7 records, 5 active, average active delay 5.00 minutes.</a:t>
                      </a:r>
                    </a:p>
                  </a:txBody>
                  <a:tcPr marL="114300" marR="114300" marT="66675" marB="66675" anchor="ctr">
                    <a:solidFill>
                      <a:srgbClr val="EDF3F8"/>
                    </a:solidFill>
                  </a:tcPr>
                </a:tc>
              </a:tr>
              <a:tr h="516731">
                <a:tc>
                  <a:txBody>
                    <a:bodyPr wrap="square">
                      <a:noAutofit/>
                    </a:bodyPr>
                    <a:lstStyle/>
                    <a:p>
                      <a:pPr algn="l"/>
                      <a:r>
                        <a:rPr sz="1725" b="0">
                          <a:solidFill>
                            <a:srgbClr val="132A3C"/>
                          </a:solidFill>
                          <a:latin typeface="Arial"/>
                          <a:ea typeface="Arial"/>
                          <a:cs typeface="Arial"/>
                        </a:rPr>
                        <a:t>Save, exit and restart</a:t>
                      </a:r>
                    </a:p>
                  </a:txBody>
                  <a:tcPr marL="114300" marR="114300" marT="66675" marB="66675" anchor="ctr">
                    <a:solidFill>
                      <a:srgbClr val="FFFFFF"/>
                    </a:solidFill>
                  </a:tcPr>
                </a:tc>
                <a:tc>
                  <a:txBody>
                    <a:bodyPr wrap="square">
                      <a:noAutofit/>
                    </a:bodyPr>
                    <a:lstStyle/>
                    <a:p>
                      <a:pPr algn="l"/>
                      <a:r>
                        <a:rPr sz="1725" b="0">
                          <a:solidFill>
                            <a:srgbClr val="132A3C"/>
                          </a:solidFill>
                          <a:latin typeface="Arial"/>
                          <a:ea typeface="Arial"/>
                          <a:cs typeface="Arial"/>
                        </a:rPr>
                        <a:t>Restore the edited and newly added records.</a:t>
                      </a:r>
                    </a:p>
                  </a:txBody>
                  <a:tcPr marL="114300" marR="114300" marT="66675" marB="66675" anchor="ctr">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9AC2FBF0-8264-4769-9BB1-DE09467DB4A1}"/>
              </a:ext>
            </a:extLst>
          </p:cNvPr>
          <p:cNvSpPr>
            <a:spLocks xmlns:a="http://schemas.openxmlformats.org/drawingml/2006/main" noGrp="1"/>
          </p:cNvSpPr>
          <p:nvPr/>
        </p:nvSpPr>
        <p:spPr>
          <a:xfrm xmlns:a="http://schemas.openxmlformats.org/drawingml/2006/main">
            <a:off x="609600" y="60388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The demonstration uses a copy of the supplied data file.</a:t>
            </a:r>
          </a:p>
        </p:txBody>
      </p:sp>
    </p:spTree>
    <p:extLst>
      <p:ext uri="{BB962C8B-B14F-4D97-AF65-F5344CB8AC3E}">
        <p14:creationId xmlns:p14="http://schemas.microsoft.com/office/powerpoint/2010/main" val="1444827501"/>
      </p:ext>
    </p:extLst>
  </p:cSld>
</p:sld>
</file>

<file path=ppt/slides/slide3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E2F2B815-6696-4090-B0F8-9F45B21630D3}"/>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132A3C"/>
                </a:solidFill>
                <a:latin typeface="Arial"/>
                <a:ea typeface="Arial"/>
                <a:cs typeface="Arial"/>
              </a:defRPr>
            </a:pPr>
            <a:r>
              <a:rPr sz="3300" b="1">
                <a:solidFill>
                  <a:srgbClr val="132A3C"/>
                </a:solidFill>
                <a:latin typeface="Arial"/>
                <a:ea typeface="Arial"/>
                <a:cs typeface="Arial"/>
              </a:rPr>
              <a:t>Viva answers and project limits</a:t>
            </a:r>
          </a:p>
        </p:txBody>
      </p:sp>
      <p:sp>
        <p:nvSpPr>
          <p:cNvPr id="2" name="page-number">
            <a:extLst xmlns:a="http://schemas.openxmlformats.org/drawingml/2006/main">
              <a:ext uri="{FF2B5EF4-FFF2-40B4-BE49-F238E27FC236}">
                <a16:creationId xmlns:a16="http://schemas.microsoft.com/office/drawing/2014/main" id="{0A6F8E62-FC82-40DD-9825-8965CF7A258E}"/>
              </a:ext>
            </a:extLst>
          </p:cNvPr>
          <p:cNvSpPr>
            <a:spLocks xmlns:a="http://schemas.openxmlformats.org/drawingml/2006/main" noGrp="1"/>
          </p:cNvSpPr>
          <p:nvPr/>
        </p:nvSpPr>
        <p:spPr>
          <a:xfrm xmlns:a="http://schemas.openxmlformats.org/drawingml/2006/main">
            <a:off x="112204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878"/>
                </a:solidFill>
                <a:latin typeface="Arial"/>
                <a:ea typeface="Arial"/>
                <a:cs typeface="Arial"/>
              </a:defRPr>
            </a:pPr>
            <a:r>
              <a:rPr sz="1275" b="0">
                <a:solidFill>
                  <a:srgbClr val="526878"/>
                </a:solidFill>
                <a:latin typeface="Arial"/>
                <a:ea typeface="Arial"/>
                <a:cs typeface="Arial"/>
              </a:rPr>
              <a:t>30</a:t>
            </a:r>
          </a:p>
        </p:txBody>
      </p:sp>
      <p:sp>
        <p:nvSpPr>
          <p:cNvPr id="3" name="text-2">
            <a:extLst xmlns:a="http://schemas.openxmlformats.org/drawingml/2006/main">
              <a:ext uri="{FF2B5EF4-FFF2-40B4-BE49-F238E27FC236}">
                <a16:creationId xmlns:a16="http://schemas.microsoft.com/office/drawing/2014/main" id="{E49E4808-27D2-4874-9B18-AAC8DCD450D1}"/>
              </a:ext>
            </a:extLst>
          </p:cNvPr>
          <p:cNvSpPr>
            <a:spLocks xmlns:a="http://schemas.openxmlformats.org/drawingml/2006/main" noGrp="1"/>
          </p:cNvSpPr>
          <p:nvPr/>
        </p:nvSpPr>
        <p:spPr>
          <a:xfrm xmlns:a="http://schemas.openxmlformats.org/drawingml/2006/main">
            <a:off x="609600" y="1514475"/>
            <a:ext cx="5391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1">
                <a:solidFill>
                  <a:srgbClr val="007D85"/>
                </a:solidFill>
                <a:latin typeface="Arial"/>
                <a:ea typeface="Arial"/>
                <a:cs typeface="Arial"/>
              </a:defRPr>
            </a:pPr>
            <a:r>
              <a:rPr sz="2250" b="1">
                <a:solidFill>
                  <a:srgbClr val="007D85"/>
                </a:solidFill>
                <a:latin typeface="Arial"/>
                <a:ea typeface="Arial"/>
                <a:cs typeface="Arial"/>
              </a:rPr>
              <a:t>Why linear search?</a:t>
            </a:r>
          </a:p>
        </p:txBody>
      </p:sp>
      <p:sp>
        <p:nvSpPr>
          <p:cNvPr id="4" name="text-3">
            <a:extLst xmlns:a="http://schemas.openxmlformats.org/drawingml/2006/main">
              <a:ext uri="{FF2B5EF4-FFF2-40B4-BE49-F238E27FC236}">
                <a16:creationId xmlns:a16="http://schemas.microsoft.com/office/drawing/2014/main" id="{FB50C0A0-4D8A-4604-953B-BB388546948E}"/>
              </a:ext>
            </a:extLst>
          </p:cNvPr>
          <p:cNvSpPr>
            <a:spLocks xmlns:a="http://schemas.openxmlformats.org/drawingml/2006/main" noGrp="1"/>
          </p:cNvSpPr>
          <p:nvPr/>
        </p:nvSpPr>
        <p:spPr>
          <a:xfrm xmlns:a="http://schemas.openxmlformats.org/drawingml/2006/main">
            <a:off x="609600" y="2057400"/>
            <a:ext cx="53911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0">
                <a:solidFill>
                  <a:srgbClr val="132A3C"/>
                </a:solidFill>
                <a:latin typeface="Arial"/>
                <a:ea typeface="Arial"/>
                <a:cs typeface="Arial"/>
              </a:defRPr>
            </a:pPr>
            <a:r>
              <a:rPr sz="2025" b="0">
                <a:solidFill>
                  <a:srgbClr val="132A3C"/>
                </a:solidFill>
                <a:latin typeface="Arial"/>
                <a:ea typeface="Arial"/>
                <a:cs typeface="Arial"/>
              </a:rPr>
              <a:t>At most 200 records makes an O(n) scan easy to explain and adequate.</a:t>
            </a:r>
          </a:p>
        </p:txBody>
      </p:sp>
      <p:sp>
        <p:nvSpPr>
          <p:cNvPr id="5" name="text-4">
            <a:extLst xmlns:a="http://schemas.openxmlformats.org/drawingml/2006/main">
              <a:ext uri="{FF2B5EF4-FFF2-40B4-BE49-F238E27FC236}">
                <a16:creationId xmlns:a16="http://schemas.microsoft.com/office/drawing/2014/main" id="{DA75E781-4CEF-47AC-97D6-E3093173D40F}"/>
              </a:ext>
            </a:extLst>
          </p:cNvPr>
          <p:cNvSpPr>
            <a:spLocks xmlns:a="http://schemas.openxmlformats.org/drawingml/2006/main" noGrp="1"/>
          </p:cNvSpPr>
          <p:nvPr/>
        </p:nvSpPr>
        <p:spPr>
          <a:xfrm xmlns:a="http://schemas.openxmlformats.org/drawingml/2006/main">
            <a:off x="6534150" y="151447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1">
                <a:solidFill>
                  <a:srgbClr val="007D85"/>
                </a:solidFill>
                <a:latin typeface="Arial"/>
                <a:ea typeface="Arial"/>
                <a:cs typeface="Arial"/>
              </a:defRPr>
            </a:pPr>
            <a:r>
              <a:rPr sz="2250" b="1">
                <a:solidFill>
                  <a:srgbClr val="007D85"/>
                </a:solidFill>
                <a:latin typeface="Arial"/>
                <a:ea typeface="Arial"/>
                <a:cs typeface="Arial"/>
              </a:rPr>
              <a:t>Why Comparator?</a:t>
            </a:r>
          </a:p>
        </p:txBody>
      </p:sp>
      <p:sp>
        <p:nvSpPr>
          <p:cNvPr id="6" name="text-5">
            <a:extLst xmlns:a="http://schemas.openxmlformats.org/drawingml/2006/main">
              <a:ext uri="{FF2B5EF4-FFF2-40B4-BE49-F238E27FC236}">
                <a16:creationId xmlns:a16="http://schemas.microsoft.com/office/drawing/2014/main" id="{1337A203-FC24-4B0E-9E30-C237D395E6AE}"/>
              </a:ext>
            </a:extLst>
          </p:cNvPr>
          <p:cNvSpPr>
            <a:spLocks xmlns:a="http://schemas.openxmlformats.org/drawingml/2006/main" noGrp="1"/>
          </p:cNvSpPr>
          <p:nvPr/>
        </p:nvSpPr>
        <p:spPr>
          <a:xfrm xmlns:a="http://schemas.openxmlformats.org/drawingml/2006/main">
            <a:off x="6534150" y="2057400"/>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0">
                <a:solidFill>
                  <a:srgbClr val="132A3C"/>
                </a:solidFill>
                <a:latin typeface="Arial"/>
                <a:ea typeface="Arial"/>
                <a:cs typeface="Arial"/>
              </a:defRPr>
            </a:pPr>
            <a:r>
              <a:rPr sz="2025" b="0">
                <a:solidFill>
                  <a:srgbClr val="132A3C"/>
                </a:solidFill>
                <a:latin typeface="Arial"/>
                <a:ea typeface="Arial"/>
                <a:cs typeface="Arial"/>
              </a:rPr>
              <a:t>It keeps the display ordering rule separate from the Flight class.</a:t>
            </a:r>
          </a:p>
        </p:txBody>
      </p:sp>
      <p:sp>
        <p:nvSpPr>
          <p:cNvPr id="7" name="text-6">
            <a:extLst xmlns:a="http://schemas.openxmlformats.org/drawingml/2006/main">
              <a:ext uri="{FF2B5EF4-FFF2-40B4-BE49-F238E27FC236}">
                <a16:creationId xmlns:a16="http://schemas.microsoft.com/office/drawing/2014/main" id="{A3B63B60-A5EA-409A-9D5B-78EC4809E02E}"/>
              </a:ext>
            </a:extLst>
          </p:cNvPr>
          <p:cNvSpPr>
            <a:spLocks xmlns:a="http://schemas.openxmlformats.org/drawingml/2006/main" noGrp="1"/>
          </p:cNvSpPr>
          <p:nvPr/>
        </p:nvSpPr>
        <p:spPr>
          <a:xfrm xmlns:a="http://schemas.openxmlformats.org/drawingml/2006/main">
            <a:off x="609600" y="3552825"/>
            <a:ext cx="5391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1">
                <a:solidFill>
                  <a:srgbClr val="007D85"/>
                </a:solidFill>
                <a:latin typeface="Arial"/>
                <a:ea typeface="Arial"/>
                <a:cs typeface="Arial"/>
              </a:defRPr>
            </a:pPr>
            <a:r>
              <a:rPr sz="2250" b="1">
                <a:solidFill>
                  <a:srgbClr val="007D85"/>
                </a:solidFill>
                <a:latin typeface="Arial"/>
                <a:ea typeface="Arial"/>
                <a:cs typeface="Arial"/>
              </a:rPr>
              <a:t>How does a rejected edit behave?</a:t>
            </a:r>
          </a:p>
        </p:txBody>
      </p:sp>
      <p:sp>
        <p:nvSpPr>
          <p:cNvPr id="8" name="text-7">
            <a:extLst xmlns:a="http://schemas.openxmlformats.org/drawingml/2006/main">
              <a:ext uri="{FF2B5EF4-FFF2-40B4-BE49-F238E27FC236}">
                <a16:creationId xmlns:a16="http://schemas.microsoft.com/office/drawing/2014/main" id="{F5111E8B-EF21-4BBB-AC27-ED17FAE8FD19}"/>
              </a:ext>
            </a:extLst>
          </p:cNvPr>
          <p:cNvSpPr>
            <a:spLocks xmlns:a="http://schemas.openxmlformats.org/drawingml/2006/main" noGrp="1"/>
          </p:cNvSpPr>
          <p:nvPr/>
        </p:nvSpPr>
        <p:spPr>
          <a:xfrm xmlns:a="http://schemas.openxmlformats.org/drawingml/2006/main">
            <a:off x="609600" y="4248150"/>
            <a:ext cx="53911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0">
                <a:solidFill>
                  <a:srgbClr val="132A3C"/>
                </a:solidFill>
                <a:latin typeface="Arial"/>
                <a:ea typeface="Arial"/>
                <a:cs typeface="Arial"/>
              </a:defRPr>
            </a:pPr>
            <a:r>
              <a:rPr sz="2025" b="0">
                <a:solidFill>
                  <a:srgbClr val="132A3C"/>
                </a:solidFill>
                <a:latin typeface="Arial"/>
                <a:ea typeface="Arial"/>
                <a:cs typeface="Arial"/>
              </a:rPr>
              <a:t>The scheduler checks proposed values before changing stored fields.</a:t>
            </a:r>
          </a:p>
        </p:txBody>
      </p:sp>
      <p:sp>
        <p:nvSpPr>
          <p:cNvPr id="9" name="text-8">
            <a:extLst xmlns:a="http://schemas.openxmlformats.org/drawingml/2006/main">
              <a:ext uri="{FF2B5EF4-FFF2-40B4-BE49-F238E27FC236}">
                <a16:creationId xmlns:a16="http://schemas.microsoft.com/office/drawing/2014/main" id="{BC995CB5-A63F-434B-855D-4BAE35CECE8A}"/>
              </a:ext>
            </a:extLst>
          </p:cNvPr>
          <p:cNvSpPr>
            <a:spLocks xmlns:a="http://schemas.openxmlformats.org/drawingml/2006/main" noGrp="1"/>
          </p:cNvSpPr>
          <p:nvPr/>
        </p:nvSpPr>
        <p:spPr>
          <a:xfrm xmlns:a="http://schemas.openxmlformats.org/drawingml/2006/main">
            <a:off x="6534150" y="355282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1">
                <a:solidFill>
                  <a:srgbClr val="007D85"/>
                </a:solidFill>
                <a:latin typeface="Arial"/>
                <a:ea typeface="Arial"/>
                <a:cs typeface="Arial"/>
              </a:defRPr>
            </a:pPr>
            <a:r>
              <a:rPr sz="2250" b="1">
                <a:solidFill>
                  <a:srgbClr val="007D85"/>
                </a:solidFill>
                <a:latin typeface="Arial"/>
                <a:ea typeface="Arial"/>
                <a:cs typeface="Arial"/>
              </a:rPr>
              <a:t>What are the limits?</a:t>
            </a:r>
          </a:p>
        </p:txBody>
      </p:sp>
      <p:sp>
        <p:nvSpPr>
          <p:cNvPr id="10" name="text-9">
            <a:extLst xmlns:a="http://schemas.openxmlformats.org/drawingml/2006/main">
              <a:ext uri="{FF2B5EF4-FFF2-40B4-BE49-F238E27FC236}">
                <a16:creationId xmlns:a16="http://schemas.microsoft.com/office/drawing/2014/main" id="{54315ED8-E84B-4BA1-9EB9-ABC59C4D8773}"/>
              </a:ext>
            </a:extLst>
          </p:cNvPr>
          <p:cNvSpPr>
            <a:spLocks xmlns:a="http://schemas.openxmlformats.org/drawingml/2006/main" noGrp="1"/>
          </p:cNvSpPr>
          <p:nvPr/>
        </p:nvSpPr>
        <p:spPr>
          <a:xfrm xmlns:a="http://schemas.openxmlformats.org/drawingml/2006/main">
            <a:off x="6534150" y="4248150"/>
            <a:ext cx="5048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0">
                <a:solidFill>
                  <a:srgbClr val="132A3C"/>
                </a:solidFill>
                <a:latin typeface="Arial"/>
                <a:ea typeface="Arial"/>
                <a:cs typeface="Arial"/>
              </a:defRPr>
            </a:pPr>
            <a:r>
              <a:rPr sz="2025" b="0">
                <a:solidFill>
                  <a:srgbClr val="132A3C"/>
                </a:solidFill>
                <a:latin typeface="Arial"/>
                <a:ea typeface="Arial"/>
                <a:cs typeface="Arial"/>
              </a:rPr>
              <a:t>One day and one operator. No live airline data or automatic runway scheduling.</a:t>
            </a:r>
          </a:p>
        </p:txBody>
      </p:sp>
      <p:sp>
        <p:nvSpPr>
          <p:cNvPr id="11" name="text-10">
            <a:extLst xmlns:a="http://schemas.openxmlformats.org/drawingml/2006/main">
              <a:ext uri="{FF2B5EF4-FFF2-40B4-BE49-F238E27FC236}">
                <a16:creationId xmlns:a16="http://schemas.microsoft.com/office/drawing/2014/main" id="{6CDE14F1-EE56-45F5-B11B-04C22C2421A6}"/>
              </a:ext>
            </a:extLst>
          </p:cNvPr>
          <p:cNvSpPr>
            <a:spLocks xmlns:a="http://schemas.openxmlformats.org/drawingml/2006/main" noGrp="1"/>
          </p:cNvSpPr>
          <p:nvPr/>
        </p:nvSpPr>
        <p:spPr>
          <a:xfrm xmlns:a="http://schemas.openxmlformats.org/drawingml/2006/main">
            <a:off x="609600" y="59245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007D85"/>
                </a:solidFill>
                <a:latin typeface="Arial"/>
                <a:ea typeface="Arial"/>
                <a:cs typeface="Arial"/>
              </a:defRPr>
            </a:pPr>
            <a:r>
              <a:rPr sz="1875" b="1">
                <a:solidFill>
                  <a:srgbClr val="007D85"/>
                </a:solidFill>
                <a:latin typeface="Arial"/>
                <a:ea typeface="Arial"/>
                <a:cs typeface="Arial"/>
              </a:rPr>
              <a:t>Private fields, explicit validation and save/reload make the logic easy to trace.</a:t>
            </a:r>
          </a:p>
        </p:txBody>
      </p:sp>
    </p:spTree>
    <p:extLst>
      <p:ext uri="{BB962C8B-B14F-4D97-AF65-F5344CB8AC3E}">
        <p14:creationId xmlns:p14="http://schemas.microsoft.com/office/powerpoint/2010/main" val="11799249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2026-10-07T05:21:17.8560000Z</dcterms:created>
  <dcterms:modified xsi:type="dcterms:W3CDTF">2026-10-07T05:21:17.8560000Z</dcterms:modified>
</coreProperties>
</file>